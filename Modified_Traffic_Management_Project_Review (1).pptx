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19"/>
  </p:notesMasterIdLst>
  <p:handoutMasterIdLst>
    <p:handoutMasterId r:id="rId20"/>
  </p:handoutMasterIdLst>
  <p:sldIdLst>
    <p:sldId id="256" r:id="rId2"/>
    <p:sldId id="277" r:id="rId3"/>
    <p:sldId id="257" r:id="rId4"/>
    <p:sldId id="268" r:id="rId5"/>
    <p:sldId id="260" r:id="rId6"/>
    <p:sldId id="279" r:id="rId7"/>
    <p:sldId id="269" r:id="rId8"/>
    <p:sldId id="282" r:id="rId9"/>
    <p:sldId id="280" r:id="rId10"/>
    <p:sldId id="258" r:id="rId11"/>
    <p:sldId id="283" r:id="rId12"/>
    <p:sldId id="285" r:id="rId13"/>
    <p:sldId id="281" r:id="rId14"/>
    <p:sldId id="275" r:id="rId15"/>
    <p:sldId id="273" r:id="rId16"/>
    <p:sldId id="272" r:id="rId17"/>
    <p:sldId id="27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0" d="100"/>
          <a:sy n="60" d="100"/>
        </p:scale>
        <p:origin x="8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B1A203-1400-82CC-0664-3C3FAE5548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KIET</a:t>
            </a:r>
          </a:p>
        </p:txBody>
      </p:sp>
      <p:sp>
        <p:nvSpPr>
          <p:cNvPr id="3" name="Date Placeholder 2">
            <a:extLst>
              <a:ext uri="{FF2B5EF4-FFF2-40B4-BE49-F238E27FC236}">
                <a16:creationId xmlns:a16="http://schemas.microsoft.com/office/drawing/2014/main" id="{2E36EF9E-0C27-A318-6009-2FC796EF386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D54575-590E-4D51-84EE-001789E85091}" type="datetimeFigureOut">
              <a:rPr lang="en-IN" smtClean="0"/>
              <a:t>11-08-2026</a:t>
            </a:fld>
            <a:endParaRPr lang="en-IN"/>
          </a:p>
        </p:txBody>
      </p:sp>
      <p:sp>
        <p:nvSpPr>
          <p:cNvPr id="4" name="Footer Placeholder 3">
            <a:extLst>
              <a:ext uri="{FF2B5EF4-FFF2-40B4-BE49-F238E27FC236}">
                <a16:creationId xmlns:a16="http://schemas.microsoft.com/office/drawing/2014/main" id="{7F4C7F56-257D-AAE0-7602-D0EAE7AA27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2BB44F9-1CEC-B640-B1EF-18EBE8C54B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021A47-1D60-4F4E-9458-DB1FE7999804}" type="slidenum">
              <a:rPr lang="en-IN" smtClean="0"/>
              <a:t>‹#›</a:t>
            </a:fld>
            <a:endParaRPr lang="en-IN"/>
          </a:p>
        </p:txBody>
      </p:sp>
    </p:spTree>
    <p:extLst>
      <p:ext uri="{BB962C8B-B14F-4D97-AF65-F5344CB8AC3E}">
        <p14:creationId xmlns:p14="http://schemas.microsoft.com/office/powerpoint/2010/main" val="75683536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KIET</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FFA056-49BE-4B8F-A9A1-B232E0A98220}" type="datetimeFigureOut">
              <a:rPr lang="en-IN" smtClean="0"/>
              <a:t>11-08-2026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91F003-D038-42FD-AAFA-3EC3DAC91C2B}" type="slidenum">
              <a:rPr lang="en-IN" smtClean="0"/>
              <a:t>‹#›</a:t>
            </a:fld>
            <a:endParaRPr lang="en-IN"/>
          </a:p>
        </p:txBody>
      </p:sp>
    </p:spTree>
    <p:extLst>
      <p:ext uri="{BB962C8B-B14F-4D97-AF65-F5344CB8AC3E}">
        <p14:creationId xmlns:p14="http://schemas.microsoft.com/office/powerpoint/2010/main" val="340015619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8B5A14-DCA2-4A38-AA5B-E73139E312DD}" type="datetime1">
              <a:rPr lang="en-IN" smtClean="0"/>
              <a:t>11-08-2026</a:t>
            </a:fld>
            <a:endParaRPr lang="en-IN"/>
          </a:p>
        </p:txBody>
      </p:sp>
      <p:sp>
        <p:nvSpPr>
          <p:cNvPr id="5" name="Footer Placeholder 4"/>
          <p:cNvSpPr>
            <a:spLocks noGrp="1"/>
          </p:cNvSpPr>
          <p:nvPr>
            <p:ph type="ftr" sz="quarter" idx="11"/>
          </p:nvPr>
        </p:nvSpPr>
        <p:spPr/>
        <p:txBody>
          <a:bodyPr/>
          <a:lstStyle/>
          <a:p>
            <a:r>
              <a:rPr lang="en-US"/>
              <a:t>Encoder-Decoder architecture for image caption generation</a:t>
            </a:r>
            <a:endParaRPr lang="en-IN"/>
          </a:p>
        </p:txBody>
      </p:sp>
      <p:sp>
        <p:nvSpPr>
          <p:cNvPr id="6" name="Slide Number Placeholder 5"/>
          <p:cNvSpPr>
            <a:spLocks noGrp="1"/>
          </p:cNvSpPr>
          <p:nvPr>
            <p:ph type="sldNum" sz="quarter" idx="12"/>
          </p:nvPr>
        </p:nvSpPr>
        <p:spPr/>
        <p:txBody>
          <a:bodyPr/>
          <a:lstStyle/>
          <a:p>
            <a:fld id="{285A014A-D44F-47DE-A001-9CAFB0069AF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F5306C34-2849-B82A-E266-C50B865D8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519" y="136525"/>
            <a:ext cx="742372" cy="742372"/>
          </a:xfrm>
          <a:prstGeom prst="rect">
            <a:avLst/>
          </a:prstGeom>
        </p:spPr>
      </p:pic>
    </p:spTree>
    <p:extLst>
      <p:ext uri="{BB962C8B-B14F-4D97-AF65-F5344CB8AC3E}">
        <p14:creationId xmlns:p14="http://schemas.microsoft.com/office/powerpoint/2010/main" val="3170007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8/11/2026</a:t>
            </a:fld>
            <a:endParaRPr lang="en-US" dirty="0"/>
          </a:p>
        </p:txBody>
      </p:sp>
      <p:sp>
        <p:nvSpPr>
          <p:cNvPr id="5" name="Footer Placeholder 4"/>
          <p:cNvSpPr>
            <a:spLocks noGrp="1"/>
          </p:cNvSpPr>
          <p:nvPr>
            <p:ph type="ftr" sz="quarter" idx="11"/>
          </p:nvPr>
        </p:nvSpPr>
        <p:spPr/>
        <p:txBody>
          <a:bodyPr/>
          <a:lstStyle/>
          <a:p>
            <a:r>
              <a:rPr lang="en-US"/>
              <a:t>Encoder-Decoder architecture for image caption generation</a:t>
            </a:r>
            <a:endParaRPr lang="en-IN" dirty="0"/>
          </a:p>
        </p:txBody>
      </p:sp>
      <p:sp>
        <p:nvSpPr>
          <p:cNvPr id="6" name="Slide Number Placeholder 5"/>
          <p:cNvSpPr>
            <a:spLocks noGrp="1"/>
          </p:cNvSpPr>
          <p:nvPr>
            <p:ph type="sldNum" sz="quarter" idx="12"/>
          </p:nvPr>
        </p:nvSpPr>
        <p:spPr/>
        <p:txBody>
          <a:bodyPr/>
          <a:lstStyle/>
          <a:p>
            <a:fld id="{285A014A-D44F-47DE-A001-9CAFB0069AFF}" type="slidenum">
              <a:rPr lang="en-IN" smtClean="0"/>
              <a:t>‹#›</a:t>
            </a:fld>
            <a:endParaRPr lang="en-IN"/>
          </a:p>
        </p:txBody>
      </p:sp>
      <p:sp>
        <p:nvSpPr>
          <p:cNvPr id="7" name="TextBox 6">
            <a:extLst>
              <a:ext uri="{FF2B5EF4-FFF2-40B4-BE49-F238E27FC236}">
                <a16:creationId xmlns:a16="http://schemas.microsoft.com/office/drawing/2014/main" id="{7CE6E6A4-5680-1BD7-48E3-D6704EED0193}"/>
              </a:ext>
            </a:extLst>
          </p:cNvPr>
          <p:cNvSpPr txBox="1"/>
          <p:nvPr userDrawn="1"/>
        </p:nvSpPr>
        <p:spPr>
          <a:xfrm>
            <a:off x="10821554" y="76790"/>
            <a:ext cx="1064491" cy="461665"/>
          </a:xfrm>
          <a:prstGeom prst="rect">
            <a:avLst/>
          </a:prstGeom>
          <a:noFill/>
        </p:spPr>
        <p:txBody>
          <a:bodyPr wrap="square" rtlCol="0">
            <a:spAutoFit/>
          </a:bodyPr>
          <a:lstStyle/>
          <a:p>
            <a:r>
              <a:rPr lang="en-IN" sz="10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KIET</a:t>
            </a:r>
            <a:endParaRPr lang="en-IN" sz="1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07A2210-9069-C8FD-03B3-897332935BC8}"/>
              </a:ext>
            </a:extLst>
          </p:cNvPr>
          <p:cNvSpPr txBox="1"/>
          <p:nvPr userDrawn="1"/>
        </p:nvSpPr>
        <p:spPr>
          <a:xfrm>
            <a:off x="838200" y="6356350"/>
            <a:ext cx="3114964" cy="261610"/>
          </a:xfrm>
          <a:prstGeom prst="rect">
            <a:avLst/>
          </a:prstGeom>
          <a:noFill/>
        </p:spPr>
        <p:txBody>
          <a:bodyPr wrap="square" rtlCol="0">
            <a:spAutoFit/>
          </a:bodyPr>
          <a:lstStyle/>
          <a:p>
            <a:r>
              <a:rPr lang="en-US" sz="1050" b="0" kern="0" dirty="0">
                <a:effectLst/>
                <a:latin typeface="Times New Roman" panose="02020603050405020304" pitchFamily="18" charset="0"/>
                <a:ea typeface="Calibri" panose="020F0502020204030204" pitchFamily="34" charset="0"/>
              </a:rPr>
              <a:t>DEPT.OF CSE-AI</a:t>
            </a:r>
            <a:endParaRPr lang="en-IN" sz="1050" b="0" dirty="0"/>
          </a:p>
        </p:txBody>
      </p:sp>
    </p:spTree>
    <p:extLst>
      <p:ext uri="{BB962C8B-B14F-4D97-AF65-F5344CB8AC3E}">
        <p14:creationId xmlns:p14="http://schemas.microsoft.com/office/powerpoint/2010/main" val="1921887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D3ABEC-1D4E-4D20-BAD9-CBB850D31E69}" type="datetime1">
              <a:rPr lang="en-IN" smtClean="0"/>
              <a:t>11-08-2026</a:t>
            </a:fld>
            <a:endParaRPr lang="en-IN"/>
          </a:p>
        </p:txBody>
      </p:sp>
      <p:sp>
        <p:nvSpPr>
          <p:cNvPr id="5" name="Footer Placeholder 4"/>
          <p:cNvSpPr>
            <a:spLocks noGrp="1"/>
          </p:cNvSpPr>
          <p:nvPr>
            <p:ph type="ftr" sz="quarter" idx="11"/>
          </p:nvPr>
        </p:nvSpPr>
        <p:spPr/>
        <p:txBody>
          <a:bodyPr/>
          <a:lstStyle/>
          <a:p>
            <a:r>
              <a:rPr lang="en-US"/>
              <a:t>Encoder-Decoder architecture for image caption generation</a:t>
            </a:r>
            <a:endParaRPr lang="en-IN"/>
          </a:p>
        </p:txBody>
      </p:sp>
      <p:sp>
        <p:nvSpPr>
          <p:cNvPr id="6" name="Slide Number Placeholder 5"/>
          <p:cNvSpPr>
            <a:spLocks noGrp="1"/>
          </p:cNvSpPr>
          <p:nvPr>
            <p:ph type="sldNum" sz="quarter" idx="12"/>
          </p:nvPr>
        </p:nvSpPr>
        <p:spPr/>
        <p:txBody>
          <a:bodyPr/>
          <a:lstStyle/>
          <a:p>
            <a:fld id="{285A014A-D44F-47DE-A001-9CAFB0069AFF}"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869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F27D8A-8D97-4F80-851F-D5F5D2C43F44}" type="datetime1">
              <a:rPr lang="en-IN" smtClean="0"/>
              <a:t>11-08-2026</a:t>
            </a:fld>
            <a:endParaRPr lang="en-IN"/>
          </a:p>
        </p:txBody>
      </p:sp>
      <p:sp>
        <p:nvSpPr>
          <p:cNvPr id="6" name="Footer Placeholder 5"/>
          <p:cNvSpPr>
            <a:spLocks noGrp="1"/>
          </p:cNvSpPr>
          <p:nvPr>
            <p:ph type="ftr" sz="quarter" idx="11"/>
          </p:nvPr>
        </p:nvSpPr>
        <p:spPr/>
        <p:txBody>
          <a:bodyPr/>
          <a:lstStyle/>
          <a:p>
            <a:r>
              <a:rPr lang="en-US"/>
              <a:t>Encoder-Decoder architecture for image caption generation</a:t>
            </a:r>
            <a:endParaRPr lang="en-IN"/>
          </a:p>
        </p:txBody>
      </p:sp>
      <p:sp>
        <p:nvSpPr>
          <p:cNvPr id="7" name="Slide Number Placeholder 6"/>
          <p:cNvSpPr>
            <a:spLocks noGrp="1"/>
          </p:cNvSpPr>
          <p:nvPr>
            <p:ph type="sldNum" sz="quarter" idx="12"/>
          </p:nvPr>
        </p:nvSpPr>
        <p:spPr/>
        <p:txBody>
          <a:bodyPr/>
          <a:lstStyle/>
          <a:p>
            <a:fld id="{285A014A-D44F-47DE-A001-9CAFB0069AFF}" type="slidenum">
              <a:rPr lang="en-IN" smtClean="0"/>
              <a:t>‹#›</a:t>
            </a:fld>
            <a:endParaRPr lang="en-IN"/>
          </a:p>
        </p:txBody>
      </p:sp>
    </p:spTree>
    <p:extLst>
      <p:ext uri="{BB962C8B-B14F-4D97-AF65-F5344CB8AC3E}">
        <p14:creationId xmlns:p14="http://schemas.microsoft.com/office/powerpoint/2010/main" val="278609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9A3784-5DB4-4C90-B6AE-FE9A151DBEBD}" type="datetime1">
              <a:rPr lang="en-IN" smtClean="0"/>
              <a:t>11-08-2026</a:t>
            </a:fld>
            <a:endParaRPr lang="en-IN"/>
          </a:p>
        </p:txBody>
      </p:sp>
      <p:sp>
        <p:nvSpPr>
          <p:cNvPr id="8" name="Footer Placeholder 7"/>
          <p:cNvSpPr>
            <a:spLocks noGrp="1"/>
          </p:cNvSpPr>
          <p:nvPr>
            <p:ph type="ftr" sz="quarter" idx="11"/>
          </p:nvPr>
        </p:nvSpPr>
        <p:spPr/>
        <p:txBody>
          <a:bodyPr/>
          <a:lstStyle/>
          <a:p>
            <a:r>
              <a:rPr lang="en-US"/>
              <a:t>Encoder-Decoder architecture for image caption generation</a:t>
            </a:r>
            <a:endParaRPr lang="en-IN"/>
          </a:p>
        </p:txBody>
      </p:sp>
      <p:sp>
        <p:nvSpPr>
          <p:cNvPr id="9" name="Slide Number Placeholder 8"/>
          <p:cNvSpPr>
            <a:spLocks noGrp="1"/>
          </p:cNvSpPr>
          <p:nvPr>
            <p:ph type="sldNum" sz="quarter" idx="12"/>
          </p:nvPr>
        </p:nvSpPr>
        <p:spPr/>
        <p:txBody>
          <a:bodyPr/>
          <a:lstStyle/>
          <a:p>
            <a:fld id="{285A014A-D44F-47DE-A001-9CAFB0069AFF}" type="slidenum">
              <a:rPr lang="en-IN" smtClean="0"/>
              <a:t>‹#›</a:t>
            </a:fld>
            <a:endParaRPr lang="en-IN"/>
          </a:p>
        </p:txBody>
      </p:sp>
    </p:spTree>
    <p:extLst>
      <p:ext uri="{BB962C8B-B14F-4D97-AF65-F5344CB8AC3E}">
        <p14:creationId xmlns:p14="http://schemas.microsoft.com/office/powerpoint/2010/main" val="3914962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142796-CE4A-472B-993F-675DC10E1868}" type="datetime1">
              <a:rPr lang="en-IN" smtClean="0"/>
              <a:t>11-08-2026</a:t>
            </a:fld>
            <a:endParaRPr lang="en-IN"/>
          </a:p>
        </p:txBody>
      </p:sp>
      <p:sp>
        <p:nvSpPr>
          <p:cNvPr id="4" name="Footer Placeholder 3"/>
          <p:cNvSpPr>
            <a:spLocks noGrp="1"/>
          </p:cNvSpPr>
          <p:nvPr>
            <p:ph type="ftr" sz="quarter" idx="11"/>
          </p:nvPr>
        </p:nvSpPr>
        <p:spPr/>
        <p:txBody>
          <a:bodyPr/>
          <a:lstStyle/>
          <a:p>
            <a:r>
              <a:rPr lang="en-US"/>
              <a:t>Encoder-Decoder architecture for image caption generation</a:t>
            </a:r>
            <a:endParaRPr lang="en-IN"/>
          </a:p>
        </p:txBody>
      </p:sp>
      <p:sp>
        <p:nvSpPr>
          <p:cNvPr id="5" name="Slide Number Placeholder 4"/>
          <p:cNvSpPr>
            <a:spLocks noGrp="1"/>
          </p:cNvSpPr>
          <p:nvPr>
            <p:ph type="sldNum" sz="quarter" idx="12"/>
          </p:nvPr>
        </p:nvSpPr>
        <p:spPr/>
        <p:txBody>
          <a:bodyPr/>
          <a:lstStyle/>
          <a:p>
            <a:fld id="{285A014A-D44F-47DE-A001-9CAFB0069AFF}" type="slidenum">
              <a:rPr lang="en-IN" smtClean="0"/>
              <a:t>‹#›</a:t>
            </a:fld>
            <a:endParaRPr lang="en-IN"/>
          </a:p>
        </p:txBody>
      </p:sp>
    </p:spTree>
    <p:extLst>
      <p:ext uri="{BB962C8B-B14F-4D97-AF65-F5344CB8AC3E}">
        <p14:creationId xmlns:p14="http://schemas.microsoft.com/office/powerpoint/2010/main" val="3494227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66FF291-165C-47E0-99DA-F542FD4EBB84}" type="datetime1">
              <a:rPr lang="en-IN" smtClean="0"/>
              <a:t>11-08-2026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Encoder-Decoder architecture for image caption generation</a:t>
            </a:r>
            <a:endParaRPr lang="en-IN"/>
          </a:p>
        </p:txBody>
      </p:sp>
      <p:sp>
        <p:nvSpPr>
          <p:cNvPr id="9" name="Slide Number Placeholder 8"/>
          <p:cNvSpPr>
            <a:spLocks noGrp="1"/>
          </p:cNvSpPr>
          <p:nvPr>
            <p:ph type="sldNum" sz="quarter" idx="12"/>
          </p:nvPr>
        </p:nvSpPr>
        <p:spPr/>
        <p:txBody>
          <a:bodyPr/>
          <a:lstStyle/>
          <a:p>
            <a:fld id="{285A014A-D44F-47DE-A001-9CAFB0069AFF}" type="slidenum">
              <a:rPr lang="en-IN" smtClean="0"/>
              <a:t>‹#›</a:t>
            </a:fld>
            <a:endParaRPr lang="en-IN"/>
          </a:p>
        </p:txBody>
      </p:sp>
    </p:spTree>
    <p:extLst>
      <p:ext uri="{BB962C8B-B14F-4D97-AF65-F5344CB8AC3E}">
        <p14:creationId xmlns:p14="http://schemas.microsoft.com/office/powerpoint/2010/main" val="3025760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61D996B-C38C-4181-8FD8-726E3D975411}" type="datetime1">
              <a:rPr lang="en-IN" smtClean="0"/>
              <a:t>11-08-2026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Encoder-Decoder architecture for image caption generation</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85A014A-D44F-47DE-A001-9CAFB0069AFF}" type="slidenum">
              <a:rPr lang="en-IN" smtClean="0"/>
              <a:t>‹#›</a:t>
            </a:fld>
            <a:endParaRPr lang="en-IN"/>
          </a:p>
        </p:txBody>
      </p:sp>
    </p:spTree>
    <p:extLst>
      <p:ext uri="{BB962C8B-B14F-4D97-AF65-F5344CB8AC3E}">
        <p14:creationId xmlns:p14="http://schemas.microsoft.com/office/powerpoint/2010/main" val="2866261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9639AC-AE0F-4471-8663-C1E90A5FCE74}" type="datetime1">
              <a:rPr lang="en-IN" smtClean="0"/>
              <a:t>11-08-2026</a:t>
            </a:fld>
            <a:endParaRPr lang="en-IN"/>
          </a:p>
        </p:txBody>
      </p:sp>
      <p:sp>
        <p:nvSpPr>
          <p:cNvPr id="6" name="Footer Placeholder 5"/>
          <p:cNvSpPr>
            <a:spLocks noGrp="1"/>
          </p:cNvSpPr>
          <p:nvPr>
            <p:ph type="ftr" sz="quarter" idx="11"/>
          </p:nvPr>
        </p:nvSpPr>
        <p:spPr/>
        <p:txBody>
          <a:bodyPr/>
          <a:lstStyle/>
          <a:p>
            <a:r>
              <a:rPr lang="en-US"/>
              <a:t>Encoder-Decoder architecture for image caption generation</a:t>
            </a:r>
            <a:endParaRPr lang="en-IN"/>
          </a:p>
        </p:txBody>
      </p:sp>
      <p:sp>
        <p:nvSpPr>
          <p:cNvPr id="7" name="Slide Number Placeholder 6"/>
          <p:cNvSpPr>
            <a:spLocks noGrp="1"/>
          </p:cNvSpPr>
          <p:nvPr>
            <p:ph type="sldNum" sz="quarter" idx="12"/>
          </p:nvPr>
        </p:nvSpPr>
        <p:spPr/>
        <p:txBody>
          <a:bodyPr/>
          <a:lstStyle/>
          <a:p>
            <a:fld id="{285A014A-D44F-47DE-A001-9CAFB0069AFF}" type="slidenum">
              <a:rPr lang="en-IN" smtClean="0"/>
              <a:t>‹#›</a:t>
            </a:fld>
            <a:endParaRPr lang="en-IN"/>
          </a:p>
        </p:txBody>
      </p:sp>
    </p:spTree>
    <p:extLst>
      <p:ext uri="{BB962C8B-B14F-4D97-AF65-F5344CB8AC3E}">
        <p14:creationId xmlns:p14="http://schemas.microsoft.com/office/powerpoint/2010/main" val="2669897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C867B8-2868-4C75-92F6-AC57E023A551}" type="datetime1">
              <a:rPr lang="en-IN" smtClean="0"/>
              <a:t>11-08-2026</a:t>
            </a:fld>
            <a:endParaRPr lang="en-IN"/>
          </a:p>
        </p:txBody>
      </p:sp>
      <p:sp>
        <p:nvSpPr>
          <p:cNvPr id="5" name="Footer Placeholder 4"/>
          <p:cNvSpPr>
            <a:spLocks noGrp="1"/>
          </p:cNvSpPr>
          <p:nvPr>
            <p:ph type="ftr" sz="quarter" idx="11"/>
          </p:nvPr>
        </p:nvSpPr>
        <p:spPr/>
        <p:txBody>
          <a:bodyPr/>
          <a:lstStyle/>
          <a:p>
            <a:r>
              <a:rPr lang="en-US"/>
              <a:t>Encoder-Decoder architecture for image caption generation</a:t>
            </a:r>
            <a:endParaRPr lang="en-IN"/>
          </a:p>
        </p:txBody>
      </p:sp>
      <p:sp>
        <p:nvSpPr>
          <p:cNvPr id="6" name="Slide Number Placeholder 5"/>
          <p:cNvSpPr>
            <a:spLocks noGrp="1"/>
          </p:cNvSpPr>
          <p:nvPr>
            <p:ph type="sldNum" sz="quarter" idx="12"/>
          </p:nvPr>
        </p:nvSpPr>
        <p:spPr/>
        <p:txBody>
          <a:bodyPr/>
          <a:lstStyle/>
          <a:p>
            <a:fld id="{285A014A-D44F-47DE-A001-9CAFB0069AFF}" type="slidenum">
              <a:rPr lang="en-IN" smtClean="0"/>
              <a:t>‹#›</a:t>
            </a:fld>
            <a:endParaRPr lang="en-IN"/>
          </a:p>
        </p:txBody>
      </p:sp>
    </p:spTree>
    <p:extLst>
      <p:ext uri="{BB962C8B-B14F-4D97-AF65-F5344CB8AC3E}">
        <p14:creationId xmlns:p14="http://schemas.microsoft.com/office/powerpoint/2010/main" val="4177556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037BDE-6D8D-4DBE-AE5B-F94140CFC54D}" type="datetime1">
              <a:rPr lang="en-IN" smtClean="0"/>
              <a:t>11-08-2026</a:t>
            </a:fld>
            <a:endParaRPr lang="en-IN"/>
          </a:p>
        </p:txBody>
      </p:sp>
      <p:sp>
        <p:nvSpPr>
          <p:cNvPr id="5" name="Footer Placeholder 4"/>
          <p:cNvSpPr>
            <a:spLocks noGrp="1"/>
          </p:cNvSpPr>
          <p:nvPr>
            <p:ph type="ftr" sz="quarter" idx="11"/>
          </p:nvPr>
        </p:nvSpPr>
        <p:spPr/>
        <p:txBody>
          <a:bodyPr/>
          <a:lstStyle/>
          <a:p>
            <a:r>
              <a:rPr lang="en-US"/>
              <a:t>Encoder-Decoder architecture for image caption generation</a:t>
            </a:r>
            <a:endParaRPr lang="en-IN"/>
          </a:p>
        </p:txBody>
      </p:sp>
      <p:sp>
        <p:nvSpPr>
          <p:cNvPr id="6" name="Slide Number Placeholder 5"/>
          <p:cNvSpPr>
            <a:spLocks noGrp="1"/>
          </p:cNvSpPr>
          <p:nvPr>
            <p:ph type="sldNum" sz="quarter" idx="12"/>
          </p:nvPr>
        </p:nvSpPr>
        <p:spPr/>
        <p:txBody>
          <a:bodyPr/>
          <a:lstStyle/>
          <a:p>
            <a:fld id="{285A014A-D44F-47DE-A001-9CAFB0069AFF}" type="slidenum">
              <a:rPr lang="en-IN" smtClean="0"/>
              <a:t>‹#›</a:t>
            </a:fld>
            <a:endParaRPr lang="en-IN"/>
          </a:p>
        </p:txBody>
      </p:sp>
    </p:spTree>
    <p:extLst>
      <p:ext uri="{BB962C8B-B14F-4D97-AF65-F5344CB8AC3E}">
        <p14:creationId xmlns:p14="http://schemas.microsoft.com/office/powerpoint/2010/main" val="1663439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757C2-ECE0-CD04-DF3F-AD07287AF291}"/>
              </a:ext>
            </a:extLst>
          </p:cNvPr>
          <p:cNvSpPr>
            <a:spLocks noGrp="1"/>
          </p:cNvSpPr>
          <p:nvPr>
            <p:ph type="title"/>
          </p:nvPr>
        </p:nvSpPr>
        <p:spPr>
          <a:xfrm>
            <a:off x="838200" y="849745"/>
            <a:ext cx="10515600" cy="975880"/>
          </a:xfrm>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20011A01-66FD-74F9-AAA7-4DF51C7EF097}"/>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1321FC97-6D53-A9D9-13C6-083041612FFB}"/>
              </a:ext>
            </a:extLst>
          </p:cNvPr>
          <p:cNvSpPr>
            <a:spLocks noGrp="1"/>
          </p:cNvSpPr>
          <p:nvPr>
            <p:ph type="ftr" sz="quarter" idx="11"/>
          </p:nvPr>
        </p:nvSpPr>
        <p:spPr/>
        <p:txBody>
          <a:bodyPr/>
          <a:lstStyle/>
          <a:p>
            <a:r>
              <a:rPr lang="en-US" dirty="0"/>
              <a:t>Encoder-Decoder architecture for image caption generation</a:t>
            </a:r>
            <a:endParaRPr lang="en-IN" dirty="0"/>
          </a:p>
        </p:txBody>
      </p:sp>
      <p:sp>
        <p:nvSpPr>
          <p:cNvPr id="6" name="Slide Number Placeholder 5">
            <a:extLst>
              <a:ext uri="{FF2B5EF4-FFF2-40B4-BE49-F238E27FC236}">
                <a16:creationId xmlns:a16="http://schemas.microsoft.com/office/drawing/2014/main" id="{0972DB64-A73A-10A6-830F-93F2FBA35A76}"/>
              </a:ext>
            </a:extLst>
          </p:cNvPr>
          <p:cNvSpPr>
            <a:spLocks noGrp="1"/>
          </p:cNvSpPr>
          <p:nvPr>
            <p:ph type="sldNum" sz="quarter" idx="12"/>
          </p:nvPr>
        </p:nvSpPr>
        <p:spPr/>
        <p:txBody>
          <a:bodyPr/>
          <a:lstStyle/>
          <a:p>
            <a:fld id="{285A014A-D44F-47DE-A001-9CAFB0069AFF}" type="slidenum">
              <a:rPr lang="en-IN" smtClean="0"/>
              <a:t>‹#›</a:t>
            </a:fld>
            <a:endParaRPr lang="en-IN"/>
          </a:p>
        </p:txBody>
      </p:sp>
      <p:sp>
        <p:nvSpPr>
          <p:cNvPr id="12" name="TextBox 11">
            <a:extLst>
              <a:ext uri="{FF2B5EF4-FFF2-40B4-BE49-F238E27FC236}">
                <a16:creationId xmlns:a16="http://schemas.microsoft.com/office/drawing/2014/main" id="{B45AEC46-A151-C663-986F-BD13967742DF}"/>
              </a:ext>
            </a:extLst>
          </p:cNvPr>
          <p:cNvSpPr txBox="1"/>
          <p:nvPr userDrawn="1"/>
        </p:nvSpPr>
        <p:spPr>
          <a:xfrm>
            <a:off x="10821554" y="76790"/>
            <a:ext cx="1064491" cy="461665"/>
          </a:xfrm>
          <a:prstGeom prst="rect">
            <a:avLst/>
          </a:prstGeom>
          <a:noFill/>
        </p:spPr>
        <p:txBody>
          <a:bodyPr wrap="square" rtlCol="0">
            <a:spAutoFit/>
          </a:bodyPr>
          <a:lstStyle/>
          <a:p>
            <a:r>
              <a:rPr lang="en-IN" sz="10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KIET</a:t>
            </a:r>
            <a:endParaRPr lang="en-IN" sz="1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96311F8-BF96-A5B7-C944-B518797A7E3E}"/>
              </a:ext>
            </a:extLst>
          </p:cNvPr>
          <p:cNvSpPr txBox="1"/>
          <p:nvPr userDrawn="1"/>
        </p:nvSpPr>
        <p:spPr>
          <a:xfrm>
            <a:off x="838200" y="6356350"/>
            <a:ext cx="3114964" cy="261610"/>
          </a:xfrm>
          <a:prstGeom prst="rect">
            <a:avLst/>
          </a:prstGeom>
          <a:noFill/>
        </p:spPr>
        <p:txBody>
          <a:bodyPr wrap="square" rtlCol="0">
            <a:spAutoFit/>
          </a:bodyPr>
          <a:lstStyle/>
          <a:p>
            <a:r>
              <a:rPr lang="en-US" sz="1050" b="0" kern="0" dirty="0">
                <a:effectLst/>
                <a:latin typeface="Times New Roman" panose="02020603050405020304" pitchFamily="18" charset="0"/>
                <a:ea typeface="Calibri" panose="020F0502020204030204" pitchFamily="34" charset="0"/>
              </a:rPr>
              <a:t>DEPT.OF CSE-AI</a:t>
            </a:r>
            <a:endParaRPr lang="en-IN" sz="1050" b="0" dirty="0"/>
          </a:p>
        </p:txBody>
      </p:sp>
    </p:spTree>
    <p:extLst>
      <p:ext uri="{BB962C8B-B14F-4D97-AF65-F5344CB8AC3E}">
        <p14:creationId xmlns:p14="http://schemas.microsoft.com/office/powerpoint/2010/main" val="3896165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DCBA4D9-112E-482B-BECE-0BB31C5A77ED}" type="datetime1">
              <a:rPr lang="en-IN" smtClean="0"/>
              <a:t>11-08-2026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Encoder-Decoder architecture for image caption generation</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85A014A-D44F-47DE-A001-9CAFB0069AFF}"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140984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650" r:id="rId12"/>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30F0F98-5FEF-E880-413E-EFA0695C90C5}"/>
              </a:ext>
            </a:extLst>
          </p:cNvPr>
          <p:cNvSpPr txBox="1"/>
          <p:nvPr/>
        </p:nvSpPr>
        <p:spPr>
          <a:xfrm>
            <a:off x="1702058" y="150386"/>
            <a:ext cx="8787883" cy="1553630"/>
          </a:xfrm>
          <a:prstGeom prst="rect">
            <a:avLst/>
          </a:prstGeom>
          <a:noFill/>
        </p:spPr>
        <p:txBody>
          <a:bodyPr wrap="square" rtlCol="0">
            <a:spAutoFit/>
          </a:bodyPr>
          <a:lstStyle/>
          <a:p>
            <a:pPr algn="ctr"/>
            <a:r>
              <a:rPr lang="en-US" sz="3200" b="1" dirty="0">
                <a:solidFill>
                  <a:schemeClr val="accent1">
                    <a:lumMod val="75000"/>
                  </a:schemeClr>
                </a:solidFill>
                <a:effectLst/>
                <a:latin typeface="Arial" panose="02020603050405020304" pitchFamily="18" charset="0"/>
                <a:ea typeface="Calibri" panose="020F0502020204030204" pitchFamily="34" charset="0"/>
                <a:cs typeface="Times New Roman" panose="02020603050405020304" pitchFamily="18" charset="0"/>
              </a:rPr>
              <a:t>REAL - TIME OBJECT DETECTION USING YOLO-V10 (COMPUTER VISION)</a:t>
            </a:r>
          </a:p>
          <a:p>
            <a:pPr algn="ctr">
              <a:lnSpc>
                <a:spcPct val="200000"/>
              </a:lnSpc>
            </a:pPr>
            <a:endParaRPr lang="en-IN" dirty="0">
              <a:solidFill>
                <a:schemeClr val="accent1">
                  <a:lumMod val="75000"/>
                </a:schemeClr>
              </a:solidFill>
            </a:endParaRPr>
          </a:p>
        </p:txBody>
      </p:sp>
      <p:sp>
        <p:nvSpPr>
          <p:cNvPr id="2" name="TextBox 1">
            <a:extLst>
              <a:ext uri="{FF2B5EF4-FFF2-40B4-BE49-F238E27FC236}">
                <a16:creationId xmlns:a16="http://schemas.microsoft.com/office/drawing/2014/main" id="{7A96DFD9-A597-019E-8F51-3D55332F8A97}"/>
              </a:ext>
            </a:extLst>
          </p:cNvPr>
          <p:cNvSpPr txBox="1"/>
          <p:nvPr/>
        </p:nvSpPr>
        <p:spPr>
          <a:xfrm>
            <a:off x="2046513" y="4790914"/>
            <a:ext cx="8263814" cy="1889300"/>
          </a:xfrm>
          <a:prstGeom prst="rect">
            <a:avLst/>
          </a:prstGeom>
          <a:noFill/>
        </p:spPr>
        <p:txBody>
          <a:bodyPr wrap="square" rtlCol="0">
            <a:spAutoFit/>
          </a:bodyPr>
          <a:lstStyle/>
          <a:p>
            <a:pPr algn="ctr">
              <a:lnSpc>
                <a:spcPct val="150000"/>
              </a:lnSpc>
            </a:pPr>
            <a:r>
              <a:rPr lang="en-US" sz="2000" b="1"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KAKINADA</a:t>
            </a:r>
            <a:r>
              <a:rPr lang="en-US" sz="2000" b="1" spc="-20"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 </a:t>
            </a:r>
            <a:r>
              <a:rPr lang="en-US" sz="2000" b="1"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INSTITUTE</a:t>
            </a:r>
            <a:r>
              <a:rPr lang="en-US" sz="2000" b="1" spc="-25"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 </a:t>
            </a:r>
            <a:r>
              <a:rPr lang="en-US" sz="2000" b="1"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OF</a:t>
            </a:r>
            <a:r>
              <a:rPr lang="en-US" sz="2000" b="1" spc="-25"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 </a:t>
            </a:r>
            <a:r>
              <a:rPr lang="en-US" sz="2000" b="1"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ENGINEERING</a:t>
            </a:r>
            <a:r>
              <a:rPr lang="en-US" sz="2000" b="1" spc="-35"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 </a:t>
            </a:r>
            <a:r>
              <a:rPr lang="en-US" sz="2000" b="1"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&amp;</a:t>
            </a:r>
            <a:r>
              <a:rPr lang="en-US" sz="2000" b="1" spc="-15"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 </a:t>
            </a:r>
            <a:r>
              <a:rPr lang="en-US" sz="2000" b="1"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TECHNOLOGY </a:t>
            </a:r>
          </a:p>
          <a:p>
            <a:pPr algn="ctr">
              <a:lnSpc>
                <a:spcPct val="150000"/>
              </a:lnSpc>
            </a:pPr>
            <a:r>
              <a:rPr lang="en-US" sz="2000" b="1" dirty="0">
                <a:solidFill>
                  <a:srgbClr val="833C0B"/>
                </a:solidFill>
                <a:effectLst/>
                <a:latin typeface="Arial" panose="02020603050405020304" pitchFamily="18" charset="0"/>
                <a:ea typeface="Calibri" panose="020F0502020204030204" pitchFamily="34" charset="0"/>
                <a:cs typeface="Times New Roman" panose="02020603050405020304" pitchFamily="18" charset="0"/>
              </a:rPr>
              <a:t>FOR WOMEN</a:t>
            </a:r>
            <a:br>
              <a:rPr lang="en-US" sz="2000" b="1" dirty="0">
                <a:solidFill>
                  <a:srgbClr val="833C0B"/>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000" b="1" dirty="0">
                <a:solidFill>
                  <a:srgbClr val="00B050"/>
                </a:solidFill>
                <a:effectLst/>
                <a:latin typeface="Arial" panose="02020603050405020304" pitchFamily="18" charset="0"/>
                <a:ea typeface="Calibri" panose="020F0502020204030204" pitchFamily="34" charset="0"/>
                <a:cs typeface="Times New Roman" panose="02020603050405020304" pitchFamily="18" charset="0"/>
              </a:rPr>
              <a:t>DEPARTMENT OF CSE </a:t>
            </a:r>
          </a:p>
          <a:p>
            <a:pPr algn="ctr">
              <a:lnSpc>
                <a:spcPct val="150000"/>
              </a:lnSpc>
            </a:pPr>
            <a:r>
              <a:rPr lang="en-US" sz="2000" b="1" dirty="0">
                <a:solidFill>
                  <a:srgbClr val="00B050"/>
                </a:solidFill>
                <a:effectLst/>
                <a:latin typeface="Arial" panose="02020603050405020304" pitchFamily="18" charset="0"/>
                <a:ea typeface="Calibri" panose="020F0502020204030204" pitchFamily="34" charset="0"/>
                <a:cs typeface="Times New Roman" panose="02020603050405020304" pitchFamily="18" charset="0"/>
              </a:rPr>
              <a:t> ARTIFICAL INTELLIGENCE &amp; DATA SCIENCE</a:t>
            </a:r>
            <a:endParaRPr lang="en-IN" sz="2000" dirty="0"/>
          </a:p>
        </p:txBody>
      </p:sp>
      <p:sp>
        <p:nvSpPr>
          <p:cNvPr id="8" name="TextBox 7">
            <a:extLst>
              <a:ext uri="{FF2B5EF4-FFF2-40B4-BE49-F238E27FC236}">
                <a16:creationId xmlns:a16="http://schemas.microsoft.com/office/drawing/2014/main" id="{33152975-6273-2E75-E9DC-91E322FE2B34}"/>
              </a:ext>
            </a:extLst>
          </p:cNvPr>
          <p:cNvSpPr txBox="1"/>
          <p:nvPr/>
        </p:nvSpPr>
        <p:spPr>
          <a:xfrm>
            <a:off x="1277895" y="1495407"/>
            <a:ext cx="9939454" cy="3050066"/>
          </a:xfrm>
          <a:prstGeom prst="rect">
            <a:avLst/>
          </a:prstGeom>
          <a:noFill/>
        </p:spPr>
        <p:txBody>
          <a:bodyPr wrap="square" rtlCol="0">
            <a:spAutoFit/>
          </a:bodyPr>
          <a:lstStyle/>
          <a:p>
            <a:pPr algn="ctr">
              <a:lnSpc>
                <a:spcPct val="115000"/>
              </a:lnSpc>
              <a:spcAft>
                <a:spcPts val="1000"/>
              </a:spcAft>
              <a:tabLst>
                <a:tab pos="90170" algn="l"/>
                <a:tab pos="180340" algn="l"/>
              </a:tabLst>
            </a:pPr>
            <a:r>
              <a:rPr lang="en-US" sz="2000" b="1" dirty="0">
                <a:solidFill>
                  <a:schemeClr val="accent2">
                    <a:lumMod val="50000"/>
                  </a:schemeClr>
                </a:solidFill>
                <a:effectLst/>
                <a:latin typeface="Arial" panose="02020603050405020304" pitchFamily="18" charset="0"/>
                <a:ea typeface="Calibri" panose="020F0502020204030204" pitchFamily="34" charset="0"/>
                <a:cs typeface="Times New Roman" panose="02020603050405020304" pitchFamily="18" charset="0"/>
              </a:rPr>
              <a:t>Under the Esteemed Guidance</a:t>
            </a:r>
            <a:r>
              <a:rPr lang="en-US" sz="2000" b="1" spc="-385" dirty="0">
                <a:solidFill>
                  <a:schemeClr val="accent2">
                    <a:lumMod val="50000"/>
                  </a:schemeClr>
                </a:solidFill>
                <a:effectLst/>
                <a:latin typeface="Arial" panose="02020603050405020304" pitchFamily="18" charset="0"/>
                <a:ea typeface="Calibri" panose="020F0502020204030204" pitchFamily="34" charset="0"/>
                <a:cs typeface="Times New Roman" panose="02020603050405020304" pitchFamily="18" charset="0"/>
              </a:rPr>
              <a:t>      </a:t>
            </a:r>
            <a:r>
              <a:rPr lang="en-US" sz="2000" b="1" dirty="0">
                <a:solidFill>
                  <a:schemeClr val="accent2">
                    <a:lumMod val="50000"/>
                  </a:schemeClr>
                </a:solidFill>
                <a:effectLst/>
                <a:latin typeface="Arial" panose="02020603050405020304" pitchFamily="18" charset="0"/>
                <a:ea typeface="Calibri" panose="020F0502020204030204" pitchFamily="34" charset="0"/>
                <a:cs typeface="Times New Roman" panose="02020603050405020304" pitchFamily="18" charset="0"/>
              </a:rPr>
              <a:t>of</a:t>
            </a:r>
            <a:endParaRPr lang="en-IN" sz="2000" b="1" dirty="0">
              <a:solidFill>
                <a:schemeClr val="accent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tabLst>
                <a:tab pos="90170" algn="l"/>
                <a:tab pos="180340" algn="l"/>
              </a:tabLst>
            </a:pPr>
            <a:r>
              <a:rPr lang="en-US" sz="2000" b="1" dirty="0">
                <a:solidFill>
                  <a:srgbClr val="0070C0"/>
                </a:solidFill>
                <a:effectLst/>
                <a:latin typeface="Arial" panose="02020603050405020304" pitchFamily="18" charset="0"/>
                <a:ea typeface="Calibri" panose="020F0502020204030204" pitchFamily="34" charset="0"/>
                <a:cs typeface="Times New Roman" panose="02020603050405020304" pitchFamily="18" charset="0"/>
              </a:rPr>
              <a:t>Ms. AKULA THULASI M.Tech,</a:t>
            </a:r>
            <a:endParaRPr lang="en-IN" sz="2000" b="1"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1000"/>
              </a:spcAft>
              <a:tabLst>
                <a:tab pos="90170" algn="l"/>
                <a:tab pos="180340" algn="l"/>
              </a:tabLst>
            </a:pPr>
            <a:r>
              <a:rPr lang="en-US" sz="2000" b="1" dirty="0">
                <a:solidFill>
                  <a:srgbClr val="0070C0"/>
                </a:solidFill>
                <a:effectLst/>
                <a:latin typeface="Arial" panose="02020603050405020304" pitchFamily="18" charset="0"/>
                <a:ea typeface="Calibri" panose="020F0502020204030204" pitchFamily="34" charset="0"/>
                <a:cs typeface="Times New Roman" panose="02020603050405020304" pitchFamily="18" charset="0"/>
              </a:rPr>
              <a:t>Assistant</a:t>
            </a:r>
            <a:r>
              <a:rPr lang="en-US" sz="2000" b="1" spc="-35" dirty="0">
                <a:solidFill>
                  <a:srgbClr val="0070C0"/>
                </a:solidFill>
                <a:effectLst/>
                <a:latin typeface="Arial" panose="02020603050405020304" pitchFamily="18" charset="0"/>
                <a:ea typeface="Calibri" panose="020F0502020204030204" pitchFamily="34" charset="0"/>
                <a:cs typeface="Times New Roman" panose="02020603050405020304" pitchFamily="18" charset="0"/>
              </a:rPr>
              <a:t> </a:t>
            </a:r>
            <a:r>
              <a:rPr lang="en-US" sz="2000" b="1" dirty="0">
                <a:solidFill>
                  <a:srgbClr val="0070C0"/>
                </a:solidFill>
                <a:effectLst/>
                <a:latin typeface="Arial" panose="02020603050405020304" pitchFamily="18" charset="0"/>
                <a:ea typeface="Calibri" panose="020F0502020204030204" pitchFamily="34" charset="0"/>
                <a:cs typeface="Times New Roman" panose="02020603050405020304" pitchFamily="18" charset="0"/>
              </a:rPr>
              <a:t>Professor</a:t>
            </a:r>
            <a:endParaRPr lang="en-US" sz="2000" b="1" dirty="0">
              <a:solidFill>
                <a:srgbClr val="0070C0"/>
              </a:solidFill>
              <a:latin typeface="Arial"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tabLst>
                <a:tab pos="90170" algn="l"/>
                <a:tab pos="180340" algn="l"/>
              </a:tabLst>
            </a:pPr>
            <a:r>
              <a:rPr lang="en-US" sz="1600" b="1" dirty="0">
                <a:latin typeface="Arial" panose="02020603050405020304" pitchFamily="18" charset="0"/>
                <a:ea typeface="Calibri" panose="020F0502020204030204" pitchFamily="34" charset="0"/>
                <a:cs typeface="Times New Roman" panose="02020603050405020304" pitchFamily="18" charset="0"/>
              </a:rPr>
              <a:t>Presented By</a:t>
            </a:r>
          </a:p>
          <a:p>
            <a:pPr algn="ctr">
              <a:lnSpc>
                <a:spcPct val="115000"/>
              </a:lnSpc>
              <a:spcAft>
                <a:spcPts val="1000"/>
              </a:spcAft>
              <a:tabLst>
                <a:tab pos="90170" algn="l"/>
                <a:tab pos="180340" algn="l"/>
              </a:tabLst>
            </a:pPr>
            <a:r>
              <a:rPr lang="en-US" sz="1600" b="1" dirty="0">
                <a:latin typeface="Arial" panose="02020603050405020304" pitchFamily="18" charset="0"/>
                <a:ea typeface="Calibri" panose="020F0502020204030204" pitchFamily="34" charset="0"/>
                <a:cs typeface="Times New Roman" panose="02020603050405020304" pitchFamily="18" charset="0"/>
              </a:rPr>
              <a:t>KANDA NAGA SANDHYA</a:t>
            </a:r>
          </a:p>
          <a:p>
            <a:pPr algn="ctr">
              <a:lnSpc>
                <a:spcPct val="115000"/>
              </a:lnSpc>
              <a:spcAft>
                <a:spcPts val="1000"/>
              </a:spcAft>
              <a:tabLst>
                <a:tab pos="90170" algn="l"/>
                <a:tab pos="180340" algn="l"/>
              </a:tabLst>
            </a:pPr>
            <a:r>
              <a:rPr lang="en-US" sz="1600" b="1" dirty="0">
                <a:latin typeface="Arial" panose="02020603050405020304" pitchFamily="18" charset="0"/>
                <a:ea typeface="Calibri" panose="020F0502020204030204" pitchFamily="34" charset="0"/>
                <a:cs typeface="Times New Roman" panose="02020603050405020304" pitchFamily="18" charset="0"/>
              </a:rPr>
              <a:t>23JN1DAH11</a:t>
            </a:r>
            <a:endParaRPr lang="en-US" sz="1600" dirty="0"/>
          </a:p>
          <a:p>
            <a:pPr algn="ctr"/>
            <a:endParaRPr lang="en-IN" dirty="0"/>
          </a:p>
        </p:txBody>
      </p:sp>
    </p:spTree>
    <p:extLst>
      <p:ext uri="{BB962C8B-B14F-4D97-AF65-F5344CB8AC3E}">
        <p14:creationId xmlns:p14="http://schemas.microsoft.com/office/powerpoint/2010/main" val="217532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CD41E-8C58-0268-0E11-5789A53B9E15}"/>
              </a:ext>
            </a:extLst>
          </p:cNvPr>
          <p:cNvSpPr>
            <a:spLocks noGrp="1"/>
          </p:cNvSpPr>
          <p:nvPr>
            <p:ph type="title"/>
          </p:nvPr>
        </p:nvSpPr>
        <p:spPr>
          <a:xfrm>
            <a:off x="838200" y="420537"/>
            <a:ext cx="10515600" cy="975880"/>
          </a:xfrm>
        </p:spPr>
        <p:txBody>
          <a:bodyPr/>
          <a:lstStyle/>
          <a:p>
            <a:pPr algn="ctr"/>
            <a:r>
              <a:rPr lang="en-IN" dirty="0">
                <a:latin typeface="Arial" panose="02020603050405020304" pitchFamily="18" charset="0"/>
                <a:cs typeface="Times New Roman" panose="02020603050405020304" pitchFamily="18" charset="0"/>
              </a:rPr>
              <a:t>List of contents</a:t>
            </a:r>
          </a:p>
        </p:txBody>
      </p:sp>
      <p:sp>
        <p:nvSpPr>
          <p:cNvPr id="3" name="Content Placeholder 2">
            <a:extLst>
              <a:ext uri="{FF2B5EF4-FFF2-40B4-BE49-F238E27FC236}">
                <a16:creationId xmlns:a16="http://schemas.microsoft.com/office/drawing/2014/main" id="{03306807-D42E-A8C3-2C21-59716CB8C01A}"/>
              </a:ext>
            </a:extLst>
          </p:cNvPr>
          <p:cNvSpPr>
            <a:spLocks noGrp="1"/>
          </p:cNvSpPr>
          <p:nvPr>
            <p:ph idx="1"/>
          </p:nvPr>
        </p:nvSpPr>
        <p:spPr>
          <a:xfrm>
            <a:off x="838200" y="1828799"/>
            <a:ext cx="10515600" cy="4105567"/>
          </a:xfrm>
        </p:spPr>
        <p:txBody>
          <a:bodyPr>
            <a:normAutofit fontScale="32500" lnSpcReduction="20000"/>
          </a:bodyPr>
          <a:lstStyle/>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Abstract</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Introduction </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Literature survey</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Existing methodologies</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Proposed Methods</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Applications</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Results</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Evaluation metrics</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Conclusion</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Future scope</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Queries</a:t>
            </a:r>
          </a:p>
          <a:p>
            <a:pPr>
              <a:buFont typeface="Wingdings" panose="05000000000000000000" pitchFamily="2" charset="2"/>
              <a:buChar char="q"/>
            </a:pPr>
            <a:r>
              <a:rPr lang="en-US" sz="4300" b="1" dirty="0">
                <a:solidFill>
                  <a:schemeClr val="tx1"/>
                </a:solidFill>
                <a:latin typeface="Arial" panose="02020603050405020304" pitchFamily="18" charset="0"/>
                <a:cs typeface="Times New Roman" panose="02020603050405020304" pitchFamily="18" charset="0"/>
              </a:rPr>
              <a:t>  Thank you</a:t>
            </a:r>
          </a:p>
          <a:p>
            <a:endParaRPr lang="en-IN" dirty="0"/>
          </a:p>
        </p:txBody>
      </p:sp>
      <p:sp>
        <p:nvSpPr>
          <p:cNvPr id="4" name="Footer Placeholder 3">
            <a:extLst>
              <a:ext uri="{FF2B5EF4-FFF2-40B4-BE49-F238E27FC236}">
                <a16:creationId xmlns:a16="http://schemas.microsoft.com/office/drawing/2014/main" id="{85E6A8C8-83DE-A4EF-6974-63AD5A76201A}"/>
              </a:ext>
            </a:extLst>
          </p:cNvPr>
          <p:cNvSpPr>
            <a:spLocks noGrp="1"/>
          </p:cNvSpPr>
          <p:nvPr>
            <p:ph type="ftr" sz="quarter" idx="11"/>
          </p:nvPr>
        </p:nvSpPr>
        <p:spPr>
          <a:xfrm>
            <a:off x="3862873" y="6356350"/>
            <a:ext cx="6559421" cy="365125"/>
          </a:xfrm>
        </p:spPr>
        <p:txBody>
          <a:bodyPr/>
          <a:lstStyle/>
          <a:p>
            <a:r>
              <a:rPr lang="en-US" dirty="0">
                <a:latin typeface="Arial"/>
              </a:rPr>
              <a:t>INTELLIGENT TRAFFIC MANAGEMENT SYSTEM WITH CNN - LICENSE PLATE RECOGNITION</a:t>
            </a:r>
            <a:endParaRPr lang="en-IN" dirty="0"/>
          </a:p>
        </p:txBody>
      </p:sp>
      <p:sp>
        <p:nvSpPr>
          <p:cNvPr id="5" name="Slide Number Placeholder 4">
            <a:extLst>
              <a:ext uri="{FF2B5EF4-FFF2-40B4-BE49-F238E27FC236}">
                <a16:creationId xmlns:a16="http://schemas.microsoft.com/office/drawing/2014/main" id="{2E5377B1-AF5C-CF31-DC00-5D5F3F486321}"/>
              </a:ext>
            </a:extLst>
          </p:cNvPr>
          <p:cNvSpPr>
            <a:spLocks noGrp="1"/>
          </p:cNvSpPr>
          <p:nvPr>
            <p:ph type="sldNum" sz="quarter" idx="12"/>
          </p:nvPr>
        </p:nvSpPr>
        <p:spPr/>
        <p:txBody>
          <a:bodyPr/>
          <a:lstStyle/>
          <a:p>
            <a:fld id="{285A014A-D44F-47DE-A001-9CAFB0069AFF}" type="slidenum">
              <a:rPr lang="en-IN" smtClean="0"/>
              <a:t>2</a:t>
            </a:fld>
            <a:endParaRPr lang="en-IN"/>
          </a:p>
        </p:txBody>
      </p:sp>
    </p:spTree>
    <p:extLst>
      <p:ext uri="{BB962C8B-B14F-4D97-AF65-F5344CB8AC3E}">
        <p14:creationId xmlns:p14="http://schemas.microsoft.com/office/powerpoint/2010/main" val="401461241"/>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2B844-F640-531E-95F7-66328CD894D1}"/>
              </a:ext>
            </a:extLst>
          </p:cNvPr>
          <p:cNvSpPr>
            <a:spLocks noGrp="1"/>
          </p:cNvSpPr>
          <p:nvPr>
            <p:ph type="title"/>
          </p:nvPr>
        </p:nvSpPr>
        <p:spPr>
          <a:xfrm>
            <a:off x="838200" y="597819"/>
            <a:ext cx="10515600" cy="975880"/>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E15DC31-0875-3222-A5C4-1ABAAC4DCD08}"/>
              </a:ext>
            </a:extLst>
          </p:cNvPr>
          <p:cNvSpPr>
            <a:spLocks noGrp="1"/>
          </p:cNvSpPr>
          <p:nvPr>
            <p:ph idx="1"/>
          </p:nvPr>
        </p:nvSpPr>
        <p:spPr>
          <a:xfrm>
            <a:off x="845975" y="1932235"/>
            <a:ext cx="10703768" cy="4424115"/>
          </a:xfrm>
        </p:spPr>
        <p:txBody>
          <a:bodyPr>
            <a:normAutofit/>
          </a:bodyPr>
          <a:lstStyle/>
          <a:p>
            <a:pPr algn="just">
              <a:lnSpc>
                <a:spcPct val="100000"/>
              </a:lnSpc>
            </a:pPr>
            <a:r>
              <a:rPr lang="en-US" sz="1600" dirty="0">
                <a:latin typeface="Arial" panose="02020603050405020304" pitchFamily="18" charset="0"/>
                <a:cs typeface="Times New Roman" panose="02020603050405020304" pitchFamily="18" charset="0"/>
              </a:rPr>
              <a:t>Object Detection is a key area in computer vision with applications in many fields such as surveillance, autonomous vehicles, retail analytics, robotics, and smart city solutions. This project presents a practical and efficient approach to object detection using the latest version of the YOLO (You Only Look Once) model — YOLO v10. YOLO is a popular deep learning algorithm known for its ability to detect multiple objects in a single pass, ensuring real-time performance and high accuracy. The system uses Convolutional Neural Networks (CNNs) to detect and classify objects from various sources including images, pre-recorded videos, and live camera feeds. YOLO v10 builds on the strengths of earlier versions by improving both speed and precision, making it suitable for real-world scenarios where quick and accurate decision-making is required. The architecture of YOLO v10 is designed to handle challenges such as varying object sizes, overlapping objects, cluttered backgrounds, and different lighting or weather conditions. The model is trained on large datasets containing thousands of labeled images, enabling it to recognize a wide variety of objects. The detection pipeline includes stages such as data preprocessing, feature extraction, bounding box prediction, classification, and non-max suppression to eliminate duplicate results. One of the key advantages of YOLO v10 is its ability to detect and localize multiple objects in a single frame, reducing computational overhead and processing time. This project aims to demonstrate how YOLO v10 can be integrated into real-time applications like surveillance monitoring, traffic management, object tracking, and safety alert systems, ultimately showcasing how modern deep learning models can bring speed, intelligence, and efficiency to computer vision tasks.</a:t>
            </a:r>
          </a:p>
          <a:p>
            <a:pPr algn="just">
              <a:lnSpc>
                <a:spcPct val="100000"/>
              </a:lnSpc>
            </a:pPr>
            <a:r>
              <a:rPr lang="en-US" sz="1600" dirty="0">
                <a:latin typeface="Arial" panose="02020603050405020304" pitchFamily="18" charset="0"/>
                <a:cs typeface="Times New Roman" panose="02020603050405020304" pitchFamily="18" charset="0"/>
              </a:rPr>
              <a:t>.</a:t>
            </a:r>
          </a:p>
        </p:txBody>
      </p:sp>
      <p:sp>
        <p:nvSpPr>
          <p:cNvPr id="7" name="Footer Placeholder 6">
            <a:extLst>
              <a:ext uri="{FF2B5EF4-FFF2-40B4-BE49-F238E27FC236}">
                <a16:creationId xmlns:a16="http://schemas.microsoft.com/office/drawing/2014/main" id="{ED5B5790-DDDA-0F2E-46A3-51D7A4C363B7}"/>
              </a:ext>
            </a:extLst>
          </p:cNvPr>
          <p:cNvSpPr>
            <a:spLocks noGrp="1"/>
          </p:cNvSpPr>
          <p:nvPr>
            <p:ph type="ftr" sz="quarter" idx="11"/>
          </p:nvPr>
        </p:nvSpPr>
        <p:spPr>
          <a:xfrm>
            <a:off x="3974841" y="6356350"/>
            <a:ext cx="5952929" cy="365125"/>
          </a:xfrm>
        </p:spPr>
        <p:txBody>
          <a:bodyPr/>
          <a:lstStyle/>
          <a:p>
            <a:r>
              <a:rPr lang="en-IN" dirty="0">
                <a:latin typeface="Arial"/>
              </a:rPr>
              <a:t>INTELLIGENT TRAFFIC MANAGEMENT SYSTEM WITH CNN - LICENSE PLATE RECOGNITION</a:t>
            </a:r>
          </a:p>
        </p:txBody>
      </p:sp>
      <p:sp>
        <p:nvSpPr>
          <p:cNvPr id="8" name="Slide Number Placeholder 7">
            <a:extLst>
              <a:ext uri="{FF2B5EF4-FFF2-40B4-BE49-F238E27FC236}">
                <a16:creationId xmlns:a16="http://schemas.microsoft.com/office/drawing/2014/main" id="{DC184C63-A5B1-63F1-236D-6827CBAEFC5C}"/>
              </a:ext>
            </a:extLst>
          </p:cNvPr>
          <p:cNvSpPr>
            <a:spLocks noGrp="1"/>
          </p:cNvSpPr>
          <p:nvPr>
            <p:ph type="sldNum" sz="quarter" idx="12"/>
          </p:nvPr>
        </p:nvSpPr>
        <p:spPr/>
        <p:txBody>
          <a:bodyPr/>
          <a:lstStyle/>
          <a:p>
            <a:fld id="{285A014A-D44F-47DE-A001-9CAFB0069AFF}" type="slidenum">
              <a:rPr lang="en-IN" smtClean="0"/>
              <a:t>3</a:t>
            </a:fld>
            <a:endParaRPr lang="en-IN"/>
          </a:p>
        </p:txBody>
      </p:sp>
    </p:spTree>
    <p:extLst>
      <p:ext uri="{BB962C8B-B14F-4D97-AF65-F5344CB8AC3E}">
        <p14:creationId xmlns:p14="http://schemas.microsoft.com/office/powerpoint/2010/main" val="1545259280"/>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E85B6-2DB5-A35E-4EC3-3011A8C603DA}"/>
              </a:ext>
            </a:extLst>
          </p:cNvPr>
          <p:cNvSpPr>
            <a:spLocks noGrp="1"/>
          </p:cNvSpPr>
          <p:nvPr>
            <p:ph type="title"/>
          </p:nvPr>
        </p:nvSpPr>
        <p:spPr>
          <a:xfrm>
            <a:off x="838200" y="485193"/>
            <a:ext cx="10515600" cy="911496"/>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F7EC3FE-24EC-8081-6371-657E3AD9CA7F}"/>
              </a:ext>
            </a:extLst>
          </p:cNvPr>
          <p:cNvSpPr>
            <a:spLocks noGrp="1"/>
          </p:cNvSpPr>
          <p:nvPr>
            <p:ph idx="1"/>
          </p:nvPr>
        </p:nvSpPr>
        <p:spPr>
          <a:xfrm>
            <a:off x="923730" y="1679510"/>
            <a:ext cx="10430070" cy="4497453"/>
          </a:xfrm>
        </p:spPr>
        <p:txBody>
          <a:bodyPr>
            <a:noAutofit/>
          </a:bodyPr>
          <a:lstStyle/>
          <a:p>
            <a:pPr marL="201168" lvl="1" indent="0" algn="just">
              <a:lnSpc>
                <a:spcPct val="150000"/>
              </a:lnSpc>
              <a:buNone/>
            </a:pPr>
            <a:r>
              <a:rPr lang="en-US" sz="1300" dirty="0">
                <a:latin typeface="Arial" panose="02020603050405020304" pitchFamily="18" charset="0"/>
                <a:cs typeface="Times New Roman" panose="02020603050405020304" pitchFamily="18" charset="0"/>
              </a:rPr>
              <a:t>	</a:t>
            </a:r>
            <a:r>
              <a:rPr lang="en-US" sz="1400" dirty="0">
                <a:latin typeface="Arial" panose="02020603050405020304" pitchFamily="18" charset="0"/>
                <a:cs typeface="Times New Roman" panose="02020603050405020304" pitchFamily="18" charset="0"/>
              </a:rPr>
              <a:t>In today’s fast-moving world, the need for real-time object recognition is more important than ever — from ensuring public safety to enabling smarter automation. This presentation explores a practical and efficient solution: an intelligent object detection system powered by YOLOv10. By combining the speed and accuracy of deep learning with a user-friendly </a:t>
            </a:r>
            <a:r>
              <a:rPr lang="en-US" sz="1400" dirty="0" err="1">
                <a:latin typeface="Arial" panose="02020603050405020304" pitchFamily="18" charset="0"/>
                <a:cs typeface="Times New Roman" panose="02020603050405020304" pitchFamily="18" charset="0"/>
              </a:rPr>
              <a:t>Gradio</a:t>
            </a:r>
            <a:r>
              <a:rPr lang="en-US" sz="1400" dirty="0">
                <a:latin typeface="Arial" panose="02020603050405020304" pitchFamily="18" charset="0"/>
                <a:cs typeface="Times New Roman" panose="02020603050405020304" pitchFamily="18" charset="0"/>
              </a:rPr>
              <a:t> interface, our project detects objects in images, videos, and live streams — making real-time AI both accessible and impactful.</a:t>
            </a:r>
          </a:p>
          <a:p>
            <a:pPr marL="201168" lvl="1" indent="0" algn="just">
              <a:lnSpc>
                <a:spcPct val="150000"/>
              </a:lnSpc>
              <a:buNone/>
            </a:pPr>
            <a:r>
              <a:rPr lang="en-US" sz="1500" dirty="0">
                <a:solidFill>
                  <a:schemeClr val="tx1"/>
                </a:solidFill>
                <a:latin typeface="Arial" panose="02020603050405020304" pitchFamily="18" charset="0"/>
                <a:cs typeface="Times New Roman" panose="02020603050405020304" pitchFamily="18" charset="0"/>
              </a:rPr>
              <a:t>   </a:t>
            </a:r>
            <a:r>
              <a:rPr lang="en-US" sz="1600" b="1" dirty="0">
                <a:solidFill>
                  <a:schemeClr val="tx1"/>
                </a:solidFill>
                <a:latin typeface="Arial" panose="02020603050405020304" pitchFamily="18" charset="0"/>
                <a:cs typeface="Times New Roman" panose="02020603050405020304" pitchFamily="18" charset="0"/>
              </a:rPr>
              <a:t>Key Points to Cover:-</a:t>
            </a:r>
          </a:p>
          <a:p>
            <a:pPr lvl="1" algn="just">
              <a:lnSpc>
                <a:spcPct val="150000"/>
              </a:lnSpc>
              <a:buFont typeface="Wingdings" panose="05000000000000000000" pitchFamily="2" charset="2"/>
              <a:buChar char="Ø"/>
            </a:pPr>
            <a:r>
              <a:rPr lang="en-IN" sz="1600" dirty="0">
                <a:latin typeface="Arial"/>
              </a:rPr>
              <a:t>Why YOLOv10</a:t>
            </a:r>
          </a:p>
          <a:p>
            <a:pPr lvl="1" algn="just">
              <a:lnSpc>
                <a:spcPct val="150000"/>
              </a:lnSpc>
              <a:buFont typeface="Wingdings" panose="05000000000000000000" pitchFamily="2" charset="2"/>
              <a:buChar char="Ø"/>
            </a:pPr>
            <a:r>
              <a:rPr lang="en-US" sz="1500" dirty="0">
                <a:solidFill>
                  <a:schemeClr val="tx1"/>
                </a:solidFill>
                <a:latin typeface="Arial" panose="02020603050405020304" pitchFamily="18" charset="0"/>
                <a:cs typeface="Times New Roman" panose="02020603050405020304" pitchFamily="18" charset="0"/>
              </a:rPr>
              <a:t>The Power of Convolutional Neural Networks (CNNs) </a:t>
            </a:r>
            <a:r>
              <a:rPr lang="en-US" sz="1500" b="1" dirty="0">
                <a:solidFill>
                  <a:schemeClr val="tx1"/>
                </a:solidFill>
                <a:latin typeface="Arial" panose="02020603050405020304" pitchFamily="18" charset="0"/>
                <a:cs typeface="Times New Roman" panose="02020603050405020304" pitchFamily="18" charset="0"/>
              </a:rPr>
              <a:t>:-</a:t>
            </a:r>
            <a:r>
              <a:rPr lang="en-US" sz="1500" dirty="0">
                <a:solidFill>
                  <a:schemeClr val="tx1"/>
                </a:solidFill>
                <a:latin typeface="Arial" panose="02020603050405020304" pitchFamily="18" charset="0"/>
                <a:cs typeface="Times New Roman" panose="02020603050405020304" pitchFamily="18" charset="0"/>
              </a:rPr>
              <a:t> Provide a high-level overview of CNNs and their effectiveness in image recognition tasks.</a:t>
            </a:r>
          </a:p>
          <a:p>
            <a:pPr lvl="1" algn="just">
              <a:lnSpc>
                <a:spcPct val="150000"/>
              </a:lnSpc>
              <a:buFont typeface="Wingdings" panose="05000000000000000000" pitchFamily="2" charset="2"/>
              <a:buChar char="Ø"/>
            </a:pPr>
            <a:endParaRPr lang="en-US" sz="1500" dirty="0">
              <a:solidFill>
                <a:schemeClr val="tx1"/>
              </a:solidFill>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Ø"/>
            </a:pPr>
            <a:endParaRPr lang="en-US" sz="1500" dirty="0">
              <a:solidFill>
                <a:schemeClr val="tx1"/>
              </a:solidFill>
              <a:latin typeface="Times New Roman" panose="02020603050405020304" pitchFamily="18" charset="0"/>
              <a:cs typeface="Times New Roman" panose="02020603050405020304" pitchFamily="18" charset="0"/>
            </a:endParaRPr>
          </a:p>
          <a:p>
            <a:pPr lvl="1" algn="just">
              <a:lnSpc>
                <a:spcPct val="150000"/>
              </a:lnSpc>
              <a:buFont typeface="Wingdings" panose="05000000000000000000" pitchFamily="2" charset="2"/>
              <a:buChar char="Ø"/>
            </a:pPr>
            <a:endParaRPr lang="en-US" sz="1500" b="1" dirty="0">
              <a:solidFill>
                <a:schemeClr val="tx1"/>
              </a:solidFill>
              <a:latin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70B4418F-5137-F3C6-D827-7E3B4520DEFB}"/>
              </a:ext>
            </a:extLst>
          </p:cNvPr>
          <p:cNvSpPr>
            <a:spLocks noGrp="1"/>
          </p:cNvSpPr>
          <p:nvPr>
            <p:ph type="ftr" sz="quarter" idx="11"/>
          </p:nvPr>
        </p:nvSpPr>
        <p:spPr>
          <a:xfrm>
            <a:off x="3694923" y="6356350"/>
            <a:ext cx="6251510" cy="365125"/>
          </a:xfrm>
        </p:spPr>
        <p:txBody>
          <a:bodyPr/>
          <a:lstStyle/>
          <a:p>
            <a:r>
              <a:rPr lang="en-IN" dirty="0">
                <a:latin typeface="Arial"/>
              </a:rPr>
              <a:t>INTELLIGENT TRAFFIC MANAGEMENT SYSTEM WITH CNN - LICENSE PLATE RECOGNITION</a:t>
            </a:r>
          </a:p>
        </p:txBody>
      </p:sp>
      <p:sp>
        <p:nvSpPr>
          <p:cNvPr id="11" name="Slide Number Placeholder 10">
            <a:extLst>
              <a:ext uri="{FF2B5EF4-FFF2-40B4-BE49-F238E27FC236}">
                <a16:creationId xmlns:a16="http://schemas.microsoft.com/office/drawing/2014/main" id="{418F59E2-BDA2-5D9C-493B-3188D9A1F2CA}"/>
              </a:ext>
            </a:extLst>
          </p:cNvPr>
          <p:cNvSpPr>
            <a:spLocks noGrp="1"/>
          </p:cNvSpPr>
          <p:nvPr>
            <p:ph type="sldNum" sz="quarter" idx="12"/>
          </p:nvPr>
        </p:nvSpPr>
        <p:spPr/>
        <p:txBody>
          <a:bodyPr/>
          <a:lstStyle/>
          <a:p>
            <a:fld id="{285A014A-D44F-47DE-A001-9CAFB0069AFF}" type="slidenum">
              <a:rPr lang="en-IN" smtClean="0"/>
              <a:t>4</a:t>
            </a:fld>
            <a:endParaRPr lang="en-IN"/>
          </a:p>
        </p:txBody>
      </p:sp>
    </p:spTree>
    <p:extLst>
      <p:ext uri="{BB962C8B-B14F-4D97-AF65-F5344CB8AC3E}">
        <p14:creationId xmlns:p14="http://schemas.microsoft.com/office/powerpoint/2010/main" val="54821931"/>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C9755-4920-FB80-8CC1-94C9C9840B3A}"/>
              </a:ext>
            </a:extLst>
          </p:cNvPr>
          <p:cNvSpPr>
            <a:spLocks noGrp="1"/>
          </p:cNvSpPr>
          <p:nvPr>
            <p:ph type="title"/>
          </p:nvPr>
        </p:nvSpPr>
        <p:spPr>
          <a:xfrm>
            <a:off x="838200" y="635141"/>
            <a:ext cx="10515600" cy="975880"/>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Why This Project?</a:t>
            </a:r>
          </a:p>
        </p:txBody>
      </p:sp>
      <p:sp>
        <p:nvSpPr>
          <p:cNvPr id="7" name="Footer Placeholder 6">
            <a:extLst>
              <a:ext uri="{FF2B5EF4-FFF2-40B4-BE49-F238E27FC236}">
                <a16:creationId xmlns:a16="http://schemas.microsoft.com/office/drawing/2014/main" id="{26579D94-4259-99B9-5C47-0437790DAD10}"/>
              </a:ext>
            </a:extLst>
          </p:cNvPr>
          <p:cNvSpPr>
            <a:spLocks noGrp="1"/>
          </p:cNvSpPr>
          <p:nvPr>
            <p:ph type="ftr" sz="quarter" idx="11"/>
          </p:nvPr>
        </p:nvSpPr>
        <p:spPr>
          <a:xfrm>
            <a:off x="3581401" y="6356350"/>
            <a:ext cx="6281055" cy="365125"/>
          </a:xfrm>
        </p:spPr>
        <p:txBody>
          <a:bodyPr/>
          <a:lstStyle/>
          <a:p>
            <a:r>
              <a:rPr lang="en-US" dirty="0">
                <a:latin typeface="Arial"/>
              </a:rPr>
              <a:t>INTELLIGENT TRAFFIC MANAGEMENT SYSTEM WITH CNN - LICENSE PLATE RECOGNITION</a:t>
            </a:r>
            <a:endParaRPr lang="en-IN" dirty="0"/>
          </a:p>
        </p:txBody>
      </p:sp>
      <p:sp>
        <p:nvSpPr>
          <p:cNvPr id="8" name="Slide Number Placeholder 7">
            <a:extLst>
              <a:ext uri="{FF2B5EF4-FFF2-40B4-BE49-F238E27FC236}">
                <a16:creationId xmlns:a16="http://schemas.microsoft.com/office/drawing/2014/main" id="{DAF84461-54BC-CD8F-134E-376446A016B3}"/>
              </a:ext>
            </a:extLst>
          </p:cNvPr>
          <p:cNvSpPr>
            <a:spLocks noGrp="1"/>
          </p:cNvSpPr>
          <p:nvPr>
            <p:ph type="sldNum" sz="quarter" idx="12"/>
          </p:nvPr>
        </p:nvSpPr>
        <p:spPr/>
        <p:txBody>
          <a:bodyPr/>
          <a:lstStyle/>
          <a:p>
            <a:fld id="{285A014A-D44F-47DE-A001-9CAFB0069AFF}" type="slidenum">
              <a:rPr lang="en-IN" smtClean="0"/>
              <a:t>5</a:t>
            </a:fld>
            <a:endParaRPr lang="en-IN"/>
          </a:p>
        </p:txBody>
      </p:sp>
      <p:sp>
        <p:nvSpPr>
          <p:cNvPr id="6" name="Rectangle 3">
            <a:extLst>
              <a:ext uri="{FF2B5EF4-FFF2-40B4-BE49-F238E27FC236}">
                <a16:creationId xmlns:a16="http://schemas.microsoft.com/office/drawing/2014/main" id="{E44B14AC-E0BA-9BA8-BDA8-715783B58AC1}"/>
              </a:ext>
            </a:extLst>
          </p:cNvPr>
          <p:cNvSpPr>
            <a:spLocks noGrp="1" noChangeArrowheads="1"/>
          </p:cNvSpPr>
          <p:nvPr>
            <p:ph idx="1"/>
          </p:nvPr>
        </p:nvSpPr>
        <p:spPr bwMode="auto">
          <a:xfrm>
            <a:off x="1138139" y="1860454"/>
            <a:ext cx="10215661"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Real-Time Detection is Essential</a:t>
            </a:r>
            <a:r>
              <a:rPr kumimoji="0" lang="en-US" altLang="en-US" sz="16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 Enables automation in smart cities, traffic control, and surveillance.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Existing Systems Have Limitations</a:t>
            </a:r>
            <a:r>
              <a:rPr kumimoji="0" lang="en-US" altLang="en-US" sz="16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 Many current solutions are slow and not user-friendly.</a:t>
            </a:r>
          </a:p>
          <a:p>
            <a:pPr marL="0" marR="0" lvl="0" indent="0" defTabSz="914400" rtl="0" eaLnBrk="0" fontAlgn="base" latinLnBrk="0" hangingPunct="0">
              <a:lnSpc>
                <a:spcPct val="100000"/>
              </a:lnSpc>
              <a:spcBef>
                <a:spcPct val="0"/>
              </a:spcBef>
              <a:spcAft>
                <a:spcPct val="0"/>
              </a:spcAft>
              <a:buClrTx/>
              <a:buSzTx/>
              <a:buNone/>
              <a:tabLst/>
            </a:pPr>
            <a:endParaRPr lang="en-US" altLang="en-US" dirty="0"/>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Need for a User-Centric Solution</a:t>
            </a:r>
            <a:r>
              <a:rPr kumimoji="0" lang="en-US" altLang="en-US" sz="16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 Aims to provide an easy-to-use interface for all users.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YOLOv10 as the Core Technology</a:t>
            </a:r>
            <a:r>
              <a:rPr kumimoji="0" lang="en-US" altLang="en-US" sz="16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 Delivers high accuracy and speed in object detection.</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20603050405020304" pitchFamily="18" charset="0"/>
                <a:cs typeface="Times New Roman" panose="02020603050405020304" pitchFamily="18" charset="0"/>
              </a:rPr>
              <a:t>Gradio</a:t>
            </a:r>
            <a:r>
              <a:rPr kumimoji="0" lang="en-US" altLang="en-US" sz="16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for Seamless Interaction</a:t>
            </a:r>
            <a:r>
              <a:rPr kumimoji="0" lang="en-US" altLang="en-US" sz="16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 Offers a no-code, interactive UI to test the model.</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Versatility Across Applications</a:t>
            </a:r>
            <a:r>
              <a:rPr kumimoji="0" lang="en-US" altLang="en-US" sz="16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 Can be used for videos, live feeds, and images.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Scalable and Lightweight Design</a:t>
            </a:r>
            <a:r>
              <a:rPr kumimoji="0" lang="en-US" altLang="en-US" sz="16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 Runs on moderate systems without heavy setup.</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Foundation for Future Projects</a:t>
            </a:r>
            <a:r>
              <a:rPr kumimoji="0" lang="en-US" altLang="en-US" sz="16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 Opens up possibilities for extended smart solutions.</a:t>
            </a:r>
          </a:p>
        </p:txBody>
      </p:sp>
    </p:spTree>
    <p:extLst>
      <p:ext uri="{BB962C8B-B14F-4D97-AF65-F5344CB8AC3E}">
        <p14:creationId xmlns:p14="http://schemas.microsoft.com/office/powerpoint/2010/main" val="332453683"/>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F20CB-AC1C-2254-AB04-9C2CA4F858DF}"/>
              </a:ext>
            </a:extLst>
          </p:cNvPr>
          <p:cNvSpPr>
            <a:spLocks noGrp="1"/>
          </p:cNvSpPr>
          <p:nvPr>
            <p:ph type="title"/>
          </p:nvPr>
        </p:nvSpPr>
        <p:spPr/>
        <p:txBody>
          <a:bodyPr/>
          <a:lstStyle/>
          <a:p>
            <a:pPr algn="ctr"/>
            <a:r>
              <a:rPr lang="en-IN" b="1" dirty="0">
                <a:solidFill>
                  <a:schemeClr val="accent1">
                    <a:lumMod val="75000"/>
                  </a:schemeClr>
                </a:solidFill>
                <a:latin typeface="Arial" panose="02020603050405020304" pitchFamily="18" charset="0"/>
                <a:cs typeface="Times New Roman" panose="02020603050405020304" pitchFamily="18" charset="0"/>
              </a:rPr>
              <a:t>T</a:t>
            </a:r>
            <a:r>
              <a:rPr lang="en-IN" sz="4800" b="1" dirty="0">
                <a:solidFill>
                  <a:schemeClr val="accent1">
                    <a:lumMod val="75000"/>
                  </a:schemeClr>
                </a:solidFill>
                <a:latin typeface="Arial" panose="02020603050405020304" pitchFamily="18" charset="0"/>
                <a:cs typeface="Times New Roman" panose="02020603050405020304" pitchFamily="18" charset="0"/>
              </a:rPr>
              <a:t>echnologies Used</a:t>
            </a:r>
            <a:endParaRPr lang="en-IN" dirty="0"/>
          </a:p>
        </p:txBody>
      </p:sp>
      <p:sp>
        <p:nvSpPr>
          <p:cNvPr id="3" name="Content Placeholder 2">
            <a:extLst>
              <a:ext uri="{FF2B5EF4-FFF2-40B4-BE49-F238E27FC236}">
                <a16:creationId xmlns:a16="http://schemas.microsoft.com/office/drawing/2014/main" id="{07EF4C3A-4339-0AE6-857F-4D74973CB736}"/>
              </a:ext>
            </a:extLst>
          </p:cNvPr>
          <p:cNvSpPr>
            <a:spLocks noGrp="1"/>
          </p:cNvSpPr>
          <p:nvPr>
            <p:ph idx="1"/>
          </p:nvPr>
        </p:nvSpPr>
        <p:spPr/>
        <p:txBody>
          <a:bodyPr/>
          <a:lstStyle/>
          <a:p>
            <a:pPr>
              <a:buFont typeface="Wingdings" panose="05000000000000000000" pitchFamily="2" charset="2"/>
              <a:buChar char="Ø"/>
            </a:pPr>
            <a:r>
              <a:rPr lang="en-IN" b="1" dirty="0">
                <a:latin typeface="Arial" panose="02020603050405020304" pitchFamily="18" charset="0"/>
                <a:cs typeface="Times New Roman" panose="02020603050405020304" pitchFamily="18" charset="0"/>
              </a:rPr>
              <a:t>YOLOv10</a:t>
            </a:r>
            <a:r>
              <a:rPr lang="en-IN" dirty="0">
                <a:latin typeface="Arial" panose="02020603050405020304" pitchFamily="18" charset="0"/>
                <a:cs typeface="Times New Roman" panose="02020603050405020304" pitchFamily="18" charset="0"/>
              </a:rPr>
              <a:t> – Pre-trained deep learning model for fast and accurate object detection.</a:t>
            </a:r>
          </a:p>
          <a:p>
            <a:pPr>
              <a:buFont typeface="Wingdings" panose="05000000000000000000" pitchFamily="2" charset="2"/>
              <a:buChar char="Ø"/>
            </a:pPr>
            <a:r>
              <a:rPr lang="en-IN" b="1" dirty="0" err="1">
                <a:latin typeface="Arial" panose="02020603050405020304" pitchFamily="18" charset="0"/>
                <a:cs typeface="Times New Roman" panose="02020603050405020304" pitchFamily="18" charset="0"/>
              </a:rPr>
              <a:t>Gradio</a:t>
            </a:r>
            <a:r>
              <a:rPr lang="en-IN" dirty="0">
                <a:latin typeface="Arial" panose="02020603050405020304" pitchFamily="18" charset="0"/>
                <a:cs typeface="Times New Roman" panose="02020603050405020304" pitchFamily="18" charset="0"/>
              </a:rPr>
              <a:t> – Python library used to build an interactive UI for model testing.</a:t>
            </a:r>
          </a:p>
          <a:p>
            <a:pPr>
              <a:buFont typeface="Wingdings" panose="05000000000000000000" pitchFamily="2" charset="2"/>
              <a:buChar char="Ø"/>
            </a:pPr>
            <a:r>
              <a:rPr lang="en-IN" b="1" dirty="0">
                <a:latin typeface="Arial" panose="02020603050405020304" pitchFamily="18" charset="0"/>
                <a:cs typeface="Times New Roman" panose="02020603050405020304" pitchFamily="18" charset="0"/>
              </a:rPr>
              <a:t>OpenCV (cv2)</a:t>
            </a:r>
            <a:r>
              <a:rPr lang="en-IN" dirty="0">
                <a:latin typeface="Arial" panose="02020603050405020304" pitchFamily="18" charset="0"/>
                <a:cs typeface="Times New Roman" panose="02020603050405020304" pitchFamily="18" charset="0"/>
              </a:rPr>
              <a:t> – For handling image/video processing and real-time frame capture.</a:t>
            </a:r>
          </a:p>
          <a:p>
            <a:pPr>
              <a:buFont typeface="Wingdings" panose="05000000000000000000" pitchFamily="2" charset="2"/>
              <a:buChar char="Ø"/>
            </a:pPr>
            <a:r>
              <a:rPr lang="en-IN" b="1" dirty="0">
                <a:latin typeface="Arial" panose="02020603050405020304" pitchFamily="18" charset="0"/>
                <a:cs typeface="Times New Roman" panose="02020603050405020304" pitchFamily="18" charset="0"/>
              </a:rPr>
              <a:t>Python</a:t>
            </a:r>
            <a:r>
              <a:rPr lang="en-IN" dirty="0">
                <a:latin typeface="Arial" panose="02020603050405020304" pitchFamily="18" charset="0"/>
                <a:cs typeface="Times New Roman" panose="02020603050405020304" pitchFamily="18" charset="0"/>
              </a:rPr>
              <a:t> – Core programming language used for backend logic and integration.</a:t>
            </a:r>
          </a:p>
          <a:p>
            <a:pPr>
              <a:buFont typeface="Wingdings" panose="05000000000000000000" pitchFamily="2" charset="2"/>
              <a:buChar char="Ø"/>
            </a:pPr>
            <a:r>
              <a:rPr lang="en-IN" b="1" dirty="0" err="1">
                <a:latin typeface="Arial" panose="02020603050405020304" pitchFamily="18" charset="0"/>
                <a:cs typeface="Times New Roman" panose="02020603050405020304" pitchFamily="18" charset="0"/>
              </a:rPr>
              <a:t>Tempfile</a:t>
            </a:r>
            <a:r>
              <a:rPr lang="en-IN" dirty="0">
                <a:latin typeface="Arial" panose="02020603050405020304" pitchFamily="18" charset="0"/>
                <a:cs typeface="Times New Roman" panose="02020603050405020304" pitchFamily="18" charset="0"/>
              </a:rPr>
              <a:t> – Manages temporary file storage for uploaded videos/images.</a:t>
            </a:r>
          </a:p>
          <a:p>
            <a:pPr>
              <a:buFont typeface="Wingdings" panose="05000000000000000000" pitchFamily="2" charset="2"/>
              <a:buChar char="Ø"/>
            </a:pPr>
            <a:r>
              <a:rPr lang="en-IN" b="1" dirty="0">
                <a:latin typeface="Arial" panose="02020603050405020304" pitchFamily="18" charset="0"/>
                <a:cs typeface="Times New Roman" panose="02020603050405020304" pitchFamily="18" charset="0"/>
              </a:rPr>
              <a:t>NumPy</a:t>
            </a:r>
            <a:r>
              <a:rPr lang="en-IN" dirty="0">
                <a:latin typeface="Arial" panose="02020603050405020304" pitchFamily="18" charset="0"/>
                <a:cs typeface="Times New Roman" panose="02020603050405020304" pitchFamily="18" charset="0"/>
              </a:rPr>
              <a:t> – Supports numerical operations and array processing in Python.</a:t>
            </a:r>
          </a:p>
          <a:p>
            <a:pPr>
              <a:buFont typeface="Wingdings" panose="05000000000000000000" pitchFamily="2" charset="2"/>
              <a:buChar char="Ø"/>
            </a:pPr>
            <a:r>
              <a:rPr lang="en-IN" dirty="0">
                <a:latin typeface="Arial" panose="02020603050405020304" pitchFamily="18" charset="0"/>
                <a:cs typeface="Times New Roman" panose="02020603050405020304" pitchFamily="18" charset="0"/>
              </a:rPr>
              <a:t> </a:t>
            </a:r>
            <a:r>
              <a:rPr lang="en-IN" b="1" i="1" dirty="0">
                <a:latin typeface="Arial"/>
                <a:cs typeface="Times New Roman" panose="02020603050405020304" pitchFamily="18" charset="0"/>
              </a:rPr>
              <a:t>VS Code</a:t>
            </a:r>
            <a:r>
              <a:rPr lang="en-IN" dirty="0">
                <a:latin typeface="Arial" panose="02020603050405020304" pitchFamily="18" charset="0"/>
                <a:cs typeface="Times New Roman" panose="02020603050405020304" pitchFamily="18" charset="0"/>
              </a:rPr>
              <a:t>– For testing and debugging code during development.</a:t>
            </a:r>
          </a:p>
          <a:p>
            <a:pPr>
              <a:buFont typeface="Wingdings" panose="05000000000000000000" pitchFamily="2" charset="2"/>
              <a:buChar char="Ø"/>
            </a:pPr>
            <a:r>
              <a:rPr lang="en-IN" b="1" dirty="0" err="1">
                <a:latin typeface="Arial" panose="02020603050405020304" pitchFamily="18" charset="0"/>
                <a:cs typeface="Times New Roman" panose="02020603050405020304" pitchFamily="18" charset="0"/>
              </a:rPr>
              <a:t>Ultralytics</a:t>
            </a:r>
            <a:r>
              <a:rPr lang="en-IN" b="1" dirty="0">
                <a:latin typeface="Arial" panose="02020603050405020304" pitchFamily="18" charset="0"/>
                <a:cs typeface="Times New Roman" panose="02020603050405020304" pitchFamily="18" charset="0"/>
              </a:rPr>
              <a:t> Library</a:t>
            </a:r>
            <a:r>
              <a:rPr lang="en-IN" dirty="0">
                <a:latin typeface="Arial" panose="02020603050405020304" pitchFamily="18" charset="0"/>
                <a:cs typeface="Times New Roman" panose="02020603050405020304" pitchFamily="18" charset="0"/>
              </a:rPr>
              <a:t> – Provides easy access to YOLO models and prediction APIs.</a:t>
            </a:r>
          </a:p>
          <a:p>
            <a:pPr>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A2CA591-59EB-A3E5-A8D8-5E16C6A57ABC}"/>
              </a:ext>
            </a:extLst>
          </p:cNvPr>
          <p:cNvSpPr>
            <a:spLocks noGrp="1"/>
          </p:cNvSpPr>
          <p:nvPr>
            <p:ph type="ftr" sz="quarter" idx="11"/>
          </p:nvPr>
        </p:nvSpPr>
        <p:spPr/>
        <p:txBody>
          <a:bodyPr/>
          <a:lstStyle/>
          <a:p>
            <a:r>
              <a:rPr>
                <a:latin typeface="Arial"/>
              </a:rPr>
              <a:t>Intelligent Traffic Management System with CNN - License Plate Recognition</a:t>
            </a:r>
          </a:p>
        </p:txBody>
      </p:sp>
      <p:sp>
        <p:nvSpPr>
          <p:cNvPr id="5" name="Slide Number Placeholder 4">
            <a:extLst>
              <a:ext uri="{FF2B5EF4-FFF2-40B4-BE49-F238E27FC236}">
                <a16:creationId xmlns:a16="http://schemas.microsoft.com/office/drawing/2014/main" id="{C52B58DD-7AC8-9034-E969-0609440B5B3E}"/>
              </a:ext>
            </a:extLst>
          </p:cNvPr>
          <p:cNvSpPr>
            <a:spLocks noGrp="1"/>
          </p:cNvSpPr>
          <p:nvPr>
            <p:ph type="sldNum" sz="quarter" idx="12"/>
          </p:nvPr>
        </p:nvSpPr>
        <p:spPr/>
        <p:txBody>
          <a:bodyPr/>
          <a:lstStyle/>
          <a:p>
            <a:fld id="{285A014A-D44F-47DE-A001-9CAFB0069AFF}" type="slidenum">
              <a:rPr lang="en-IN" smtClean="0"/>
              <a:t>6</a:t>
            </a:fld>
            <a:endParaRPr lang="en-IN"/>
          </a:p>
        </p:txBody>
      </p:sp>
    </p:spTree>
    <p:extLst>
      <p:ext uri="{BB962C8B-B14F-4D97-AF65-F5344CB8AC3E}">
        <p14:creationId xmlns:p14="http://schemas.microsoft.com/office/powerpoint/2010/main" val="328450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C737-3670-BC23-2C67-FE4BF701B362}"/>
              </a:ext>
            </a:extLst>
          </p:cNvPr>
          <p:cNvSpPr>
            <a:spLocks noGrp="1"/>
          </p:cNvSpPr>
          <p:nvPr>
            <p:ph type="title"/>
          </p:nvPr>
        </p:nvSpPr>
        <p:spPr>
          <a:xfrm>
            <a:off x="653143" y="615820"/>
            <a:ext cx="10700657" cy="917050"/>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Literature survey</a:t>
            </a:r>
          </a:p>
        </p:txBody>
      </p:sp>
      <p:sp>
        <p:nvSpPr>
          <p:cNvPr id="3" name="Content Placeholder 2">
            <a:extLst>
              <a:ext uri="{FF2B5EF4-FFF2-40B4-BE49-F238E27FC236}">
                <a16:creationId xmlns:a16="http://schemas.microsoft.com/office/drawing/2014/main" id="{DB3954F2-F696-8194-5A26-73B649193995}"/>
              </a:ext>
            </a:extLst>
          </p:cNvPr>
          <p:cNvSpPr>
            <a:spLocks noGrp="1"/>
          </p:cNvSpPr>
          <p:nvPr>
            <p:ph idx="1"/>
          </p:nvPr>
        </p:nvSpPr>
        <p:spPr>
          <a:xfrm>
            <a:off x="838200" y="1532870"/>
            <a:ext cx="10515600" cy="4351338"/>
          </a:xfrm>
        </p:spPr>
        <p:txBody>
          <a:bodyPr>
            <a:normAutofit/>
          </a:bodyPr>
          <a:lstStyle/>
          <a:p>
            <a:pPr marL="0" indent="0">
              <a:lnSpc>
                <a:spcPct val="110000"/>
              </a:lnSpc>
              <a:buNone/>
            </a:pPr>
            <a:r>
              <a:rPr lang="en-US" sz="1800" dirty="0">
                <a:latin typeface="Arial" panose="02020603050405020304" pitchFamily="18" charset="0"/>
                <a:cs typeface="Times New Roman" panose="02020603050405020304" pitchFamily="18" charset="0"/>
              </a:rPr>
              <a:t>	</a:t>
            </a:r>
          </a:p>
          <a:p>
            <a:pPr algn="just">
              <a:buNone/>
            </a:pPr>
            <a:r>
              <a:rPr lang="en-US" sz="1800" dirty="0">
                <a:latin typeface="Arial" panose="02020603050405020304" pitchFamily="18" charset="0"/>
                <a:cs typeface="Times New Roman" panose="02020603050405020304" pitchFamily="18" charset="0"/>
              </a:rPr>
              <a:t>	</a:t>
            </a:r>
            <a:r>
              <a:rPr lang="en-US" sz="1600" dirty="0">
                <a:latin typeface="Arial" panose="02020603050405020304" pitchFamily="18" charset="0"/>
                <a:cs typeface="Times New Roman" panose="02020603050405020304" pitchFamily="18" charset="0"/>
              </a:rPr>
              <a:t>Object detection is a crucial task in computer vision that involves identifying objects and determining their locations within an image or video. YOLO (You Only Look Once) is one of the most popular and efficient object detection algorithms due to its real-time performance and high accuracy.</a:t>
            </a:r>
          </a:p>
          <a:p>
            <a:pPr>
              <a:buNone/>
            </a:pPr>
            <a:r>
              <a:rPr lang="en-US" sz="1600" b="1" dirty="0">
                <a:latin typeface="Arial" panose="02020603050405020304" pitchFamily="18" charset="0"/>
                <a:cs typeface="Times New Roman" panose="02020603050405020304" pitchFamily="18" charset="0"/>
              </a:rPr>
              <a:t>        Object Detection with YOLO</a:t>
            </a:r>
          </a:p>
          <a:p>
            <a:pPr>
              <a:buNone/>
            </a:pPr>
            <a:endParaRPr lang="en-US" sz="1600" b="1" dirty="0">
              <a:latin typeface="Times New Roman" panose="02020603050405020304" pitchFamily="18" charset="0"/>
              <a:cs typeface="Times New Roman" panose="02020603050405020304" pitchFamily="18" charset="0"/>
            </a:endParaRPr>
          </a:p>
          <a:p>
            <a:pPr>
              <a:buNone/>
            </a:pPr>
            <a:endParaRPr lang="en-US" sz="1600" b="1" dirty="0">
              <a:latin typeface="Times New Roman" panose="02020603050405020304" pitchFamily="18" charset="0"/>
              <a:cs typeface="Times New Roman" panose="02020603050405020304" pitchFamily="18" charset="0"/>
            </a:endParaRPr>
          </a:p>
          <a:p>
            <a:pPr>
              <a:buNone/>
            </a:pPr>
            <a:endParaRPr lang="en-US" sz="1600" b="1" dirty="0">
              <a:latin typeface="Times New Roman" panose="02020603050405020304" pitchFamily="18" charset="0"/>
              <a:cs typeface="Times New Roman" panose="02020603050405020304" pitchFamily="18" charset="0"/>
            </a:endParaRPr>
          </a:p>
          <a:p>
            <a:pPr>
              <a:buNone/>
            </a:pPr>
            <a:endParaRPr lang="en-US" sz="1600" b="1" dirty="0">
              <a:latin typeface="Times New Roman" panose="02020603050405020304" pitchFamily="18" charset="0"/>
              <a:cs typeface="Times New Roman" panose="02020603050405020304" pitchFamily="18" charset="0"/>
            </a:endParaRPr>
          </a:p>
          <a:p>
            <a:pPr>
              <a:buNone/>
            </a:pPr>
            <a:endParaRPr lang="en-US" sz="1600" b="1" dirty="0">
              <a:latin typeface="Times New Roman" panose="02020603050405020304" pitchFamily="18" charset="0"/>
              <a:cs typeface="Times New Roman" panose="02020603050405020304" pitchFamily="18" charset="0"/>
            </a:endParaRPr>
          </a:p>
          <a:p>
            <a:pPr>
              <a:buNone/>
            </a:pPr>
            <a:endParaRPr lang="en-US" sz="1600" b="1" dirty="0">
              <a:latin typeface="Times New Roman" panose="02020603050405020304" pitchFamily="18" charset="0"/>
              <a:cs typeface="Times New Roman" panose="02020603050405020304" pitchFamily="18" charset="0"/>
            </a:endParaRPr>
          </a:p>
          <a:p>
            <a:pPr>
              <a:buNone/>
            </a:pPr>
            <a:endParaRPr lang="en-US" sz="1600" b="1" dirty="0">
              <a:latin typeface="Times New Roman" panose="02020603050405020304" pitchFamily="18" charset="0"/>
              <a:cs typeface="Times New Roman" panose="02020603050405020304" pitchFamily="18" charset="0"/>
            </a:endParaRPr>
          </a:p>
          <a:p>
            <a:pPr>
              <a:buNone/>
            </a:pPr>
            <a:endParaRPr lang="en-US" sz="1600" b="1" dirty="0">
              <a:latin typeface="Times New Roman" panose="02020603050405020304" pitchFamily="18" charset="0"/>
              <a:cs typeface="Times New Roman" panose="02020603050405020304" pitchFamily="18" charset="0"/>
            </a:endParaRPr>
          </a:p>
          <a:p>
            <a:pPr>
              <a:buNone/>
            </a:pPr>
            <a:endParaRPr lang="en-US" sz="1600" dirty="0">
              <a:latin typeface="Times New Roman" panose="02020603050405020304" pitchFamily="18" charset="0"/>
              <a:cs typeface="Times New Roman" panose="02020603050405020304" pitchFamily="18" charset="0"/>
            </a:endParaRPr>
          </a:p>
          <a:p>
            <a:pPr>
              <a:buNone/>
            </a:pPr>
            <a:endParaRPr lang="en-US" sz="2000" dirty="0"/>
          </a:p>
          <a:p>
            <a:pPr marL="0" indent="0">
              <a:lnSpc>
                <a:spcPct val="170000"/>
              </a:lnSpc>
              <a:buNone/>
            </a:pP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2678267A-494F-9EC4-F61A-8EF29475EDF5}"/>
              </a:ext>
            </a:extLst>
          </p:cNvPr>
          <p:cNvSpPr>
            <a:spLocks noGrp="1"/>
          </p:cNvSpPr>
          <p:nvPr>
            <p:ph type="ftr" sz="quarter" idx="11"/>
          </p:nvPr>
        </p:nvSpPr>
        <p:spPr>
          <a:xfrm>
            <a:off x="3581401" y="6356350"/>
            <a:ext cx="6290387" cy="365125"/>
          </a:xfrm>
        </p:spPr>
        <p:txBody>
          <a:bodyPr/>
          <a:lstStyle/>
          <a:p>
            <a:r>
              <a:rPr lang="en-US" dirty="0">
                <a:latin typeface="Arial"/>
              </a:rPr>
              <a:t>INTELLIGENT TRAFFIC MANAGEMENT SYSTEM WITH CNN - LICENSE PLATE RECOGNITION</a:t>
            </a:r>
            <a:endParaRPr lang="en-IN" dirty="0"/>
          </a:p>
        </p:txBody>
      </p:sp>
      <p:sp>
        <p:nvSpPr>
          <p:cNvPr id="8" name="Slide Number Placeholder 7">
            <a:extLst>
              <a:ext uri="{FF2B5EF4-FFF2-40B4-BE49-F238E27FC236}">
                <a16:creationId xmlns:a16="http://schemas.microsoft.com/office/drawing/2014/main" id="{38703EB2-5423-C51A-6F52-B3DD197AF2A0}"/>
              </a:ext>
            </a:extLst>
          </p:cNvPr>
          <p:cNvSpPr>
            <a:spLocks noGrp="1"/>
          </p:cNvSpPr>
          <p:nvPr>
            <p:ph type="sldNum" sz="quarter" idx="12"/>
          </p:nvPr>
        </p:nvSpPr>
        <p:spPr/>
        <p:txBody>
          <a:bodyPr/>
          <a:lstStyle/>
          <a:p>
            <a:fld id="{285A014A-D44F-47DE-A001-9CAFB0069AFF}" type="slidenum">
              <a:rPr lang="en-IN" smtClean="0"/>
              <a:t>7</a:t>
            </a:fld>
            <a:endParaRPr lang="en-IN"/>
          </a:p>
        </p:txBody>
      </p:sp>
      <p:sp>
        <p:nvSpPr>
          <p:cNvPr id="6" name="Rectangle 3">
            <a:extLst>
              <a:ext uri="{FF2B5EF4-FFF2-40B4-BE49-F238E27FC236}">
                <a16:creationId xmlns:a16="http://schemas.microsoft.com/office/drawing/2014/main" id="{1484F8C5-BAA8-6D95-6B7E-C415A6C5F514}"/>
              </a:ext>
            </a:extLst>
          </p:cNvPr>
          <p:cNvSpPr>
            <a:spLocks noChangeArrowheads="1"/>
          </p:cNvSpPr>
          <p:nvPr/>
        </p:nvSpPr>
        <p:spPr bwMode="auto">
          <a:xfrm rot="10800000" flipV="1">
            <a:off x="998375" y="3135682"/>
            <a:ext cx="11193623" cy="26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YOLO treats object detection as a regression task, predicting class probabilities and bounding boxes in a single evaluation.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The original YOLO model uses a single neural network that divides the image into grids to detect objects.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YOLOv3 to YOLOv5 improved accuracy, speed, and usability, with YOLOv5 widely used for custom tasks via </a:t>
            </a:r>
            <a:r>
              <a:rPr kumimoji="0" lang="en-US" altLang="en-US" sz="1400" i="0" u="none" strike="noStrike" cap="none" normalizeH="0" baseline="0" dirty="0" err="1">
                <a:ln>
                  <a:noFill/>
                </a:ln>
                <a:solidFill>
                  <a:schemeClr val="tx1"/>
                </a:solidFill>
                <a:effectLst/>
                <a:latin typeface="Arial" panose="02020603050405020304" pitchFamily="18" charset="0"/>
                <a:cs typeface="Times New Roman" panose="02020603050405020304" pitchFamily="18" charset="0"/>
              </a:rPr>
              <a:t>PyTorch</a:t>
            </a: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YOLOv7 and YOLOv8 added attention mechanisms and anchor-free heads for better dense detection and tracking.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YOLOv10 focuses on lightweight deployment, fewer parameters, and high-speed detection on edge devices.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YOLO is applied in traffic monitoring, healthcare, face detection, autonomous vehicles, and industry automation.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YOLO's low inference time and end-to-end training make it ideal for real-time applications.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YOLO is often integrated with models like transformers and LSTMs for advanced scene and temporal detection.</a:t>
            </a:r>
          </a:p>
        </p:txBody>
      </p:sp>
    </p:spTree>
    <p:extLst>
      <p:ext uri="{BB962C8B-B14F-4D97-AF65-F5344CB8AC3E}">
        <p14:creationId xmlns:p14="http://schemas.microsoft.com/office/powerpoint/2010/main" val="3098445771"/>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C9755-4920-FB80-8CC1-94C9C9840B3A}"/>
              </a:ext>
            </a:extLst>
          </p:cNvPr>
          <p:cNvSpPr>
            <a:spLocks noGrp="1"/>
          </p:cNvSpPr>
          <p:nvPr>
            <p:ph type="title"/>
          </p:nvPr>
        </p:nvSpPr>
        <p:spPr>
          <a:xfrm>
            <a:off x="838200" y="635141"/>
            <a:ext cx="10515600" cy="975880"/>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Implementation</a:t>
            </a:r>
          </a:p>
        </p:txBody>
      </p:sp>
      <p:sp>
        <p:nvSpPr>
          <p:cNvPr id="5" name="Rectangle 2">
            <a:extLst>
              <a:ext uri="{FF2B5EF4-FFF2-40B4-BE49-F238E27FC236}">
                <a16:creationId xmlns:a16="http://schemas.microsoft.com/office/drawing/2014/main" id="{7AC60207-7E85-D77B-AAA3-E5498DFB7690}"/>
              </a:ext>
            </a:extLst>
          </p:cNvPr>
          <p:cNvSpPr>
            <a:spLocks noGrp="1" noChangeArrowheads="1"/>
          </p:cNvSpPr>
          <p:nvPr>
            <p:ph idx="1"/>
          </p:nvPr>
        </p:nvSpPr>
        <p:spPr bwMode="auto">
          <a:xfrm>
            <a:off x="905067" y="1229934"/>
            <a:ext cx="9993087"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800" b="1" dirty="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endParaRPr lang="en-US" altLang="en-US" sz="1800" b="1" dirty="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en-US" altLang="en-US" sz="1800" b="1" dirty="0">
                <a:solidFill>
                  <a:schemeClr val="tx1"/>
                </a:solidFill>
                <a:latin typeface="Arial" panose="02020603050405020304" pitchFamily="18" charset="0"/>
                <a:cs typeface="Times New Roman" panose="02020603050405020304" pitchFamily="18" charset="0"/>
              </a:rPr>
              <a:t>Libraries: </a:t>
            </a:r>
            <a:r>
              <a:rPr lang="en-US" altLang="en-US" sz="1800" dirty="0">
                <a:latin typeface="Arial" panose="02020603050405020304" pitchFamily="18" charset="0"/>
                <a:cs typeface="Times New Roman" panose="02020603050405020304" pitchFamily="18" charset="0"/>
              </a:rPr>
              <a:t>Cv2,Matplotlib.pyplot,Numpy,TensorFlow, </a:t>
            </a:r>
            <a:r>
              <a:rPr lang="en-US" altLang="en-US" sz="1800" dirty="0" err="1">
                <a:latin typeface="Arial" panose="02020603050405020304" pitchFamily="18" charset="0"/>
                <a:cs typeface="Times New Roman" panose="02020603050405020304" pitchFamily="18" charset="0"/>
              </a:rPr>
              <a:t>Sklearn.metrics</a:t>
            </a:r>
            <a:r>
              <a:rPr lang="en-US" altLang="en-US" sz="1800" dirty="0">
                <a:latin typeface="Arial" panose="02020603050405020304" pitchFamily="18" charset="0"/>
                <a:cs typeface="Times New Roman" panose="02020603050405020304" pitchFamily="18" charset="0"/>
              </a:rPr>
              <a:t>, </a:t>
            </a:r>
            <a:r>
              <a:rPr lang="en-US" altLang="en-US" sz="1800" dirty="0" err="1">
                <a:latin typeface="Arial" panose="02020603050405020304" pitchFamily="18" charset="0"/>
                <a:cs typeface="Times New Roman" panose="02020603050405020304" pitchFamily="18" charset="0"/>
              </a:rPr>
              <a:t>Tensorflow.keras.layers</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Data Preprocessing:</a:t>
            </a:r>
            <a:r>
              <a:rPr kumimoji="0" lang="en-US" altLang="en-US" sz="18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Grab images, locate license plates, and clean them up for the CNN. </a:t>
            </a: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CNN Model:</a:t>
            </a:r>
            <a:r>
              <a:rPr kumimoji="0" lang="en-US" altLang="en-US" sz="18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Train a powerful CNN  to recognize characters using a labeled dataset. </a:t>
            </a: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ITMS Integration:</a:t>
            </a:r>
            <a:r>
              <a:rPr kumimoji="0" lang="en-US" altLang="en-US" sz="18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Process live video, recognize plates in real-time, and manage the data for ITMS applications. </a:t>
            </a: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Evaluation &amp; Improvement:</a:t>
            </a:r>
            <a:r>
              <a:rPr kumimoji="0" lang="en-US" altLang="en-US" sz="18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Test thoroughly and fine-tune the system for optimal performance. </a:t>
            </a:r>
          </a:p>
        </p:txBody>
      </p:sp>
      <p:sp>
        <p:nvSpPr>
          <p:cNvPr id="7" name="Footer Placeholder 6">
            <a:extLst>
              <a:ext uri="{FF2B5EF4-FFF2-40B4-BE49-F238E27FC236}">
                <a16:creationId xmlns:a16="http://schemas.microsoft.com/office/drawing/2014/main" id="{26579D94-4259-99B9-5C47-0437790DAD10}"/>
              </a:ext>
            </a:extLst>
          </p:cNvPr>
          <p:cNvSpPr>
            <a:spLocks noGrp="1"/>
          </p:cNvSpPr>
          <p:nvPr>
            <p:ph type="ftr" sz="quarter" idx="11"/>
          </p:nvPr>
        </p:nvSpPr>
        <p:spPr>
          <a:xfrm>
            <a:off x="3581401" y="6356350"/>
            <a:ext cx="6281055" cy="365125"/>
          </a:xfrm>
        </p:spPr>
        <p:txBody>
          <a:bodyPr/>
          <a:lstStyle/>
          <a:p>
            <a:r>
              <a:rPr lang="en-US" dirty="0">
                <a:latin typeface="Arial"/>
              </a:rPr>
              <a:t>INTELLIGENT TRAFFIC MANAGEMENT SYSTEM WITH CNN - LICENSE PLATE RECOGNITION</a:t>
            </a:r>
            <a:endParaRPr lang="en-IN" dirty="0"/>
          </a:p>
        </p:txBody>
      </p:sp>
      <p:sp>
        <p:nvSpPr>
          <p:cNvPr id="8" name="Slide Number Placeholder 7">
            <a:extLst>
              <a:ext uri="{FF2B5EF4-FFF2-40B4-BE49-F238E27FC236}">
                <a16:creationId xmlns:a16="http://schemas.microsoft.com/office/drawing/2014/main" id="{DAF84461-54BC-CD8F-134E-376446A016B3}"/>
              </a:ext>
            </a:extLst>
          </p:cNvPr>
          <p:cNvSpPr>
            <a:spLocks noGrp="1"/>
          </p:cNvSpPr>
          <p:nvPr>
            <p:ph type="sldNum" sz="quarter" idx="12"/>
          </p:nvPr>
        </p:nvSpPr>
        <p:spPr/>
        <p:txBody>
          <a:bodyPr/>
          <a:lstStyle/>
          <a:p>
            <a:fld id="{285A014A-D44F-47DE-A001-9CAFB0069AFF}" type="slidenum">
              <a:rPr lang="en-IN" smtClean="0"/>
              <a:t>8</a:t>
            </a:fld>
            <a:endParaRPr lang="en-IN"/>
          </a:p>
        </p:txBody>
      </p:sp>
    </p:spTree>
    <p:extLst>
      <p:ext uri="{BB962C8B-B14F-4D97-AF65-F5344CB8AC3E}">
        <p14:creationId xmlns:p14="http://schemas.microsoft.com/office/powerpoint/2010/main" val="3031364802"/>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A6C22-229B-DC6F-8B3F-57985F23821F}"/>
              </a:ext>
            </a:extLst>
          </p:cNvPr>
          <p:cNvSpPr>
            <a:spLocks noGrp="1"/>
          </p:cNvSpPr>
          <p:nvPr>
            <p:ph type="title"/>
          </p:nvPr>
        </p:nvSpPr>
        <p:spPr/>
        <p:txBody>
          <a:bodyPr>
            <a:normAutofit/>
          </a:bodyPr>
          <a:lstStyle/>
          <a:p>
            <a:r>
              <a:rPr>
                <a:latin typeface="Arial"/>
              </a:rPr>
              <a:t>Model Integration and Backend</a:t>
            </a:r>
          </a:p>
        </p:txBody>
      </p:sp>
      <p:sp>
        <p:nvSpPr>
          <p:cNvPr id="3" name="Content Placeholder 2">
            <a:extLst>
              <a:ext uri="{FF2B5EF4-FFF2-40B4-BE49-F238E27FC236}">
                <a16:creationId xmlns:a16="http://schemas.microsoft.com/office/drawing/2014/main" id="{CA1B62FE-2976-8CC2-DA79-8BA8FA860567}"/>
              </a:ext>
            </a:extLst>
          </p:cNvPr>
          <p:cNvSpPr>
            <a:spLocks noGrp="1"/>
          </p:cNvSpPr>
          <p:nvPr>
            <p:ph idx="1"/>
          </p:nvPr>
        </p:nvSpPr>
        <p:spPr/>
        <p:txBody>
          <a:bodyPr>
            <a:normAutofit/>
          </a:bodyPr>
          <a:lstStyle/>
          <a:p>
            <a:pPr>
              <a:buFont typeface="Arial" panose="020B0604020202020204" pitchFamily="34" charset="0"/>
              <a:buChar char="•"/>
            </a:pPr>
            <a:r>
              <a:rPr lang="en-US" sz="1600" b="1" dirty="0">
                <a:latin typeface="Arial"/>
              </a:rPr>
              <a:t>Role:</a:t>
            </a:r>
            <a:r>
              <a:rPr lang="en-US" sz="1600" dirty="0">
                <a:latin typeface="Arial"/>
              </a:rPr>
              <a:t> Handles loading and running the pre-trained YOLOv10 model</a:t>
            </a:r>
          </a:p>
          <a:p>
            <a:pPr>
              <a:buFont typeface="Arial" panose="020B0604020202020204" pitchFamily="34" charset="0"/>
              <a:buChar char="•"/>
            </a:pPr>
            <a:r>
              <a:rPr lang="en-IN" sz="1600" b="1" dirty="0">
                <a:latin typeface="Arial"/>
              </a:rPr>
              <a:t>Responsibilities</a:t>
            </a:r>
            <a:r>
              <a:rPr lang="en-IN" sz="1600" dirty="0">
                <a:latin typeface="Arial"/>
              </a:rPr>
              <a:t>:-</a:t>
            </a:r>
            <a:endParaRPr lang="en-US" sz="1600" dirty="0"/>
          </a:p>
          <a:p>
            <a:pPr marL="0" indent="0">
              <a:buNone/>
            </a:pPr>
            <a:endParaRPr lang="en-IN" sz="1600" dirty="0"/>
          </a:p>
          <a:p>
            <a:pPr marL="0" indent="0">
              <a:buNone/>
            </a:pPr>
            <a:endParaRPr lang="en-IN" sz="1600" dirty="0"/>
          </a:p>
        </p:txBody>
      </p:sp>
      <p:sp>
        <p:nvSpPr>
          <p:cNvPr id="4" name="Footer Placeholder 3">
            <a:extLst>
              <a:ext uri="{FF2B5EF4-FFF2-40B4-BE49-F238E27FC236}">
                <a16:creationId xmlns:a16="http://schemas.microsoft.com/office/drawing/2014/main" id="{1D5D03F8-CACA-79D4-C3AD-6CD0CCAB4A4E}"/>
              </a:ext>
            </a:extLst>
          </p:cNvPr>
          <p:cNvSpPr>
            <a:spLocks noGrp="1"/>
          </p:cNvSpPr>
          <p:nvPr>
            <p:ph type="ftr" sz="quarter" idx="11"/>
          </p:nvPr>
        </p:nvSpPr>
        <p:spPr/>
        <p:txBody>
          <a:bodyPr/>
          <a:lstStyle/>
          <a:p>
            <a:r>
              <a:rPr>
                <a:latin typeface="Arial"/>
              </a:rPr>
              <a:t>Object Detection Using YOLOv10</a:t>
            </a:r>
          </a:p>
        </p:txBody>
      </p:sp>
      <p:sp>
        <p:nvSpPr>
          <p:cNvPr id="5" name="Slide Number Placeholder 4">
            <a:extLst>
              <a:ext uri="{FF2B5EF4-FFF2-40B4-BE49-F238E27FC236}">
                <a16:creationId xmlns:a16="http://schemas.microsoft.com/office/drawing/2014/main" id="{424B7713-C8D6-1116-320F-F1909659A5D2}"/>
              </a:ext>
            </a:extLst>
          </p:cNvPr>
          <p:cNvSpPr>
            <a:spLocks noGrp="1"/>
          </p:cNvSpPr>
          <p:nvPr>
            <p:ph type="sldNum" sz="quarter" idx="12"/>
          </p:nvPr>
        </p:nvSpPr>
        <p:spPr/>
        <p:txBody>
          <a:bodyPr/>
          <a:lstStyle/>
          <a:p>
            <a:fld id="{285A014A-D44F-47DE-A001-9CAFB0069AFF}" type="slidenum">
              <a:rPr lang="en-IN" smtClean="0"/>
              <a:t>9</a:t>
            </a:fld>
            <a:endParaRPr lang="en-IN"/>
          </a:p>
        </p:txBody>
      </p:sp>
      <p:sp>
        <p:nvSpPr>
          <p:cNvPr id="10" name="Rectangle 5">
            <a:extLst>
              <a:ext uri="{FF2B5EF4-FFF2-40B4-BE49-F238E27FC236}">
                <a16:creationId xmlns:a16="http://schemas.microsoft.com/office/drawing/2014/main" id="{53CDCB4E-F8F3-D921-DDE9-58EBE81ACB58}"/>
              </a:ext>
            </a:extLst>
          </p:cNvPr>
          <p:cNvSpPr>
            <a:spLocks noChangeArrowheads="1"/>
          </p:cNvSpPr>
          <p:nvPr/>
        </p:nvSpPr>
        <p:spPr bwMode="auto">
          <a:xfrm rot="10800000" flipV="1">
            <a:off x="1097278" y="2729143"/>
            <a:ext cx="1204955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Manage image/video input processing and prediction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Optimize model usage for speed and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Handle confidence threshold and image size logic</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Implement error handling for unsupported input types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Ensure smooth switching between image and video input modes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Support dynamic model selection (n/s/m/b/l/x versions of YOLOv10)</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Automate video frame reading and annotation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Configure output generation for annotated video/image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97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DC18-EF95-8E7F-B3ED-3432D2DCACF9}"/>
              </a:ext>
            </a:extLst>
          </p:cNvPr>
          <p:cNvSpPr>
            <a:spLocks noGrp="1"/>
          </p:cNvSpPr>
          <p:nvPr>
            <p:ph type="title"/>
          </p:nvPr>
        </p:nvSpPr>
        <p:spPr>
          <a:xfrm>
            <a:off x="351453" y="33089"/>
            <a:ext cx="11097208" cy="713359"/>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A121E65E-716D-CF78-149D-F0236D098FCB}"/>
              </a:ext>
            </a:extLst>
          </p:cNvPr>
          <p:cNvSpPr>
            <a:spLocks noGrp="1"/>
          </p:cNvSpPr>
          <p:nvPr>
            <p:ph idx="1"/>
          </p:nvPr>
        </p:nvSpPr>
        <p:spPr>
          <a:xfrm rot="10800000" flipV="1">
            <a:off x="698241" y="3214149"/>
            <a:ext cx="10899712" cy="1861971"/>
          </a:xfrm>
        </p:spPr>
        <p:txBody>
          <a:bodyPr numCol="1">
            <a:normAutofit fontScale="85000" lnSpcReduction="20000"/>
          </a:bodyPr>
          <a:lstStyle/>
          <a:p>
            <a:pPr marL="0" indent="0">
              <a:lnSpc>
                <a:spcPct val="120000"/>
              </a:lnSpc>
              <a:buNone/>
            </a:pPr>
            <a:r>
              <a:rPr lang="en-US" sz="2400" dirty="0">
                <a:solidFill>
                  <a:srgbClr val="0D0D0D"/>
                </a:solidFill>
                <a:latin typeface="Arial"/>
              </a:rPr>
              <a:t> </a:t>
            </a:r>
            <a:endParaRPr lang="en-US" sz="2400" b="0" i="0" dirty="0">
              <a:solidFill>
                <a:srgbClr val="0D0D0D"/>
              </a:solidFill>
              <a:effectLst/>
              <a:latin typeface="Söhne"/>
            </a:endParaRPr>
          </a:p>
          <a:p>
            <a:pPr marL="0" indent="0">
              <a:lnSpc>
                <a:spcPct val="120000"/>
              </a:lnSpc>
              <a:buNone/>
            </a:pPr>
            <a:endParaRPr lang="en-US" sz="2400" dirty="0">
              <a:solidFill>
                <a:srgbClr val="0D0D0D"/>
              </a:solidFill>
              <a:latin typeface="Söhne"/>
              <a:cs typeface="Times New Roman" panose="02020603050405020304" pitchFamily="18" charset="0"/>
            </a:endParaRPr>
          </a:p>
          <a:p>
            <a:pPr marL="0" indent="0">
              <a:lnSpc>
                <a:spcPct val="120000"/>
              </a:lnSpc>
              <a:buNone/>
            </a:pPr>
            <a:endParaRPr lang="en-US" sz="2400" dirty="0">
              <a:solidFill>
                <a:srgbClr val="0D0D0D"/>
              </a:solidFill>
              <a:latin typeface="Söhne"/>
              <a:cs typeface="Times New Roman" panose="02020603050405020304" pitchFamily="18" charset="0"/>
            </a:endParaRPr>
          </a:p>
          <a:p>
            <a:pPr marL="0" indent="0">
              <a:lnSpc>
                <a:spcPct val="120000"/>
              </a:lnSpc>
              <a:buNone/>
            </a:pPr>
            <a:r>
              <a:rPr lang="en-US" sz="2400" dirty="0">
                <a:solidFill>
                  <a:srgbClr val="0D0D0D"/>
                </a:solidFill>
                <a:latin typeface="Arial"/>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id="{41213C31-EC40-269D-5F31-676BA23A6CA6}"/>
              </a:ext>
            </a:extLst>
          </p:cNvPr>
          <p:cNvSpPr>
            <a:spLocks noGrp="1"/>
          </p:cNvSpPr>
          <p:nvPr>
            <p:ph type="ftr" sz="quarter" idx="11"/>
          </p:nvPr>
        </p:nvSpPr>
        <p:spPr>
          <a:xfrm>
            <a:off x="3865984" y="6356350"/>
            <a:ext cx="6033796" cy="365125"/>
          </a:xfrm>
        </p:spPr>
        <p:txBody>
          <a:bodyPr/>
          <a:lstStyle/>
          <a:p>
            <a:r>
              <a:rPr lang="en-US" dirty="0">
                <a:latin typeface="Arial"/>
              </a:rPr>
              <a:t>INTELLIGENT TRAFFIC MANAGEMENT SYSTEM WITH CNN - LICENSE PLATE RECOGNITION</a:t>
            </a:r>
            <a:endParaRPr lang="en-IN" dirty="0"/>
          </a:p>
        </p:txBody>
      </p:sp>
      <p:sp>
        <p:nvSpPr>
          <p:cNvPr id="9" name="Slide Number Placeholder 8">
            <a:extLst>
              <a:ext uri="{FF2B5EF4-FFF2-40B4-BE49-F238E27FC236}">
                <a16:creationId xmlns:a16="http://schemas.microsoft.com/office/drawing/2014/main" id="{743A1226-130A-B090-2655-151E8689AD93}"/>
              </a:ext>
            </a:extLst>
          </p:cNvPr>
          <p:cNvSpPr>
            <a:spLocks noGrp="1"/>
          </p:cNvSpPr>
          <p:nvPr>
            <p:ph type="sldNum" sz="quarter" idx="12"/>
          </p:nvPr>
        </p:nvSpPr>
        <p:spPr/>
        <p:txBody>
          <a:bodyPr/>
          <a:lstStyle/>
          <a:p>
            <a:fld id="{285A014A-D44F-47DE-A001-9CAFB0069AFF}" type="slidenum">
              <a:rPr lang="en-IN" smtClean="0"/>
              <a:t>10</a:t>
            </a:fld>
            <a:endParaRPr lang="en-IN"/>
          </a:p>
        </p:txBody>
      </p:sp>
      <p:sp>
        <p:nvSpPr>
          <p:cNvPr id="4" name="Title 1">
            <a:extLst>
              <a:ext uri="{FF2B5EF4-FFF2-40B4-BE49-F238E27FC236}">
                <a16:creationId xmlns:a16="http://schemas.microsoft.com/office/drawing/2014/main" id="{54E9F78C-1445-7811-DD84-35E82ABC09F7}"/>
              </a:ext>
            </a:extLst>
          </p:cNvPr>
          <p:cNvSpPr txBox="1">
            <a:spLocks/>
          </p:cNvSpPr>
          <p:nvPr/>
        </p:nvSpPr>
        <p:spPr>
          <a:xfrm>
            <a:off x="4609322" y="5598367"/>
            <a:ext cx="4217437" cy="7579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b="1" dirty="0">
                <a:latin typeface="Arial" panose="02020603050405020304" pitchFamily="18" charset="0"/>
                <a:cs typeface="Times New Roman" panose="02020603050405020304" pitchFamily="18" charset="0"/>
              </a:rPr>
              <a:t> Dataset training flowchart </a:t>
            </a:r>
            <a:endParaRPr lang="en-IN" sz="1800" b="1"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23AE03CB-8902-44DA-1F3B-30F4A8BA47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7" y="593256"/>
            <a:ext cx="11448662" cy="5088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953397"/>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C9755-4920-FB80-8CC1-94C9C9840B3A}"/>
              </a:ext>
            </a:extLst>
          </p:cNvPr>
          <p:cNvSpPr>
            <a:spLocks noGrp="1"/>
          </p:cNvSpPr>
          <p:nvPr>
            <p:ph type="title"/>
          </p:nvPr>
        </p:nvSpPr>
        <p:spPr>
          <a:xfrm>
            <a:off x="838200" y="635141"/>
            <a:ext cx="10515600" cy="975880"/>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Implementation</a:t>
            </a:r>
          </a:p>
        </p:txBody>
      </p:sp>
      <p:sp>
        <p:nvSpPr>
          <p:cNvPr id="5" name="Rectangle 2">
            <a:extLst>
              <a:ext uri="{FF2B5EF4-FFF2-40B4-BE49-F238E27FC236}">
                <a16:creationId xmlns:a16="http://schemas.microsoft.com/office/drawing/2014/main" id="{7AC60207-7E85-D77B-AAA3-E5498DFB7690}"/>
              </a:ext>
            </a:extLst>
          </p:cNvPr>
          <p:cNvSpPr>
            <a:spLocks noGrp="1" noChangeArrowheads="1"/>
          </p:cNvSpPr>
          <p:nvPr>
            <p:ph idx="1"/>
          </p:nvPr>
        </p:nvSpPr>
        <p:spPr bwMode="auto">
          <a:xfrm>
            <a:off x="905067" y="1114519"/>
            <a:ext cx="9993087" cy="3597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800" b="1" dirty="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endParaRPr lang="en-US" altLang="en-US" sz="1800" b="1" dirty="0">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lang="en-IN" b="1" dirty="0">
                <a:latin typeface="Arial" panose="02020603050405020304" pitchFamily="18" charset="0"/>
                <a:cs typeface="Times New Roman" panose="02020603050405020304" pitchFamily="18" charset="0"/>
              </a:rPr>
              <a:t>Libraries</a:t>
            </a:r>
            <a:r>
              <a:rPr lang="en-IN" dirty="0">
                <a:latin typeface="Arial" panose="02020603050405020304" pitchFamily="18" charset="0"/>
                <a:cs typeface="Times New Roman" panose="02020603050405020304" pitchFamily="18" charset="0"/>
              </a:rPr>
              <a:t>: </a:t>
            </a:r>
            <a:r>
              <a:rPr lang="en-IN" dirty="0" err="1">
                <a:latin typeface="Arial" panose="02020603050405020304" pitchFamily="18" charset="0"/>
                <a:cs typeface="Times New Roman" panose="02020603050405020304" pitchFamily="18" charset="0"/>
              </a:rPr>
              <a:t>Ultralytics</a:t>
            </a:r>
            <a:r>
              <a:rPr lang="en-IN" dirty="0">
                <a:latin typeface="Arial" panose="02020603050405020304" pitchFamily="18" charset="0"/>
                <a:cs typeface="Times New Roman" panose="02020603050405020304" pitchFamily="18" charset="0"/>
              </a:rPr>
              <a:t>, OpenCV, </a:t>
            </a:r>
            <a:r>
              <a:rPr lang="en-IN" dirty="0" err="1">
                <a:latin typeface="Arial" panose="02020603050405020304" pitchFamily="18" charset="0"/>
                <a:cs typeface="Times New Roman" panose="02020603050405020304" pitchFamily="18" charset="0"/>
              </a:rPr>
              <a:t>Gradio</a:t>
            </a:r>
            <a:r>
              <a:rPr lang="en-IN" dirty="0">
                <a:latin typeface="Arial" panose="02020603050405020304" pitchFamily="18" charset="0"/>
                <a:cs typeface="Times New Roman" panose="02020603050405020304" pitchFamily="18" charset="0"/>
              </a:rPr>
              <a:t> and </a:t>
            </a:r>
            <a:r>
              <a:rPr lang="en-IN" dirty="0" err="1">
                <a:latin typeface="Arial" panose="02020603050405020304" pitchFamily="18" charset="0"/>
                <a:cs typeface="Times New Roman" panose="02020603050405020304" pitchFamily="18" charset="0"/>
              </a:rPr>
              <a:t>Tempfile</a:t>
            </a:r>
            <a:r>
              <a:rPr lang="en-IN" dirty="0">
                <a:latin typeface="Arial"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b="1" dirty="0">
                <a:latin typeface="Arial" panose="02020603050405020304" pitchFamily="18" charset="0"/>
                <a:cs typeface="Times New Roman" panose="02020603050405020304" pitchFamily="18" charset="0"/>
              </a:rPr>
              <a:t>Data Preparation</a:t>
            </a:r>
            <a:r>
              <a:rPr lang="en-IN" dirty="0">
                <a:latin typeface="Arial" panose="02020603050405020304" pitchFamily="18" charset="0"/>
                <a:cs typeface="Times New Roman" panose="02020603050405020304" pitchFamily="18" charset="0"/>
              </a:rPr>
              <a:t>: Resize images, annotate objects, apply augmentations.</a:t>
            </a:r>
            <a:br>
              <a:rPr lang="en-IN" dirty="0">
                <a:latin typeface="Times New Roman" panose="02020603050405020304" pitchFamily="18" charset="0"/>
                <a:cs typeface="Times New Roman" panose="02020603050405020304" pitchFamily="18" charset="0"/>
              </a:rPr>
            </a:br>
            <a:r>
              <a:rPr lang="en-IN" b="1" dirty="0">
                <a:latin typeface="Arial" panose="02020603050405020304" pitchFamily="18" charset="0"/>
                <a:cs typeface="Times New Roman" panose="02020603050405020304" pitchFamily="18" charset="0"/>
              </a:rPr>
              <a:t>Model Training</a:t>
            </a:r>
            <a:r>
              <a:rPr lang="en-IN" dirty="0">
                <a:latin typeface="Arial" panose="02020603050405020304" pitchFamily="18" charset="0"/>
                <a:cs typeface="Times New Roman" panose="02020603050405020304" pitchFamily="18" charset="0"/>
              </a:rPr>
              <a:t>: Train YOLOv10 with labelled data, optimize loss.</a:t>
            </a:r>
            <a:br>
              <a:rPr lang="en-IN" dirty="0">
                <a:latin typeface="Times New Roman" panose="02020603050405020304" pitchFamily="18" charset="0"/>
                <a:cs typeface="Times New Roman" panose="02020603050405020304" pitchFamily="18" charset="0"/>
              </a:rPr>
            </a:br>
            <a:r>
              <a:rPr lang="en-IN" b="1" dirty="0">
                <a:latin typeface="Arial" panose="02020603050405020304" pitchFamily="18" charset="0"/>
                <a:cs typeface="Times New Roman" panose="02020603050405020304" pitchFamily="18" charset="0"/>
              </a:rPr>
              <a:t>Real-Time Inference</a:t>
            </a:r>
            <a:r>
              <a:rPr lang="en-IN" dirty="0">
                <a:latin typeface="Arial" panose="02020603050405020304" pitchFamily="18" charset="0"/>
                <a:cs typeface="Times New Roman" panose="02020603050405020304" pitchFamily="18" charset="0"/>
              </a:rPr>
              <a:t>: Detect objects in images, videos, or webcam streams.</a:t>
            </a:r>
            <a:br>
              <a:rPr lang="en-IN" dirty="0">
                <a:latin typeface="Times New Roman" panose="02020603050405020304" pitchFamily="18" charset="0"/>
                <a:cs typeface="Times New Roman" panose="02020603050405020304" pitchFamily="18" charset="0"/>
              </a:rPr>
            </a:br>
            <a:r>
              <a:rPr lang="en-IN" b="1" dirty="0">
                <a:latin typeface="Arial" panose="02020603050405020304" pitchFamily="18" charset="0"/>
                <a:cs typeface="Times New Roman" panose="02020603050405020304" pitchFamily="18" charset="0"/>
              </a:rPr>
              <a:t>Evaluation &amp; Optimization</a:t>
            </a:r>
            <a:r>
              <a:rPr lang="en-IN" dirty="0">
                <a:latin typeface="Arial" panose="02020603050405020304" pitchFamily="18" charset="0"/>
                <a:cs typeface="Times New Roman" panose="02020603050405020304" pitchFamily="18" charset="0"/>
              </a:rPr>
              <a:t>: Use Threshold - </a:t>
            </a:r>
            <a:r>
              <a:rPr lang="en-US" dirty="0">
                <a:latin typeface="Arial"/>
              </a:rPr>
              <a:t>to filter out low-confidence predictions</a:t>
            </a:r>
            <a:r>
              <a:rPr lang="en-IN" dirty="0">
                <a:latin typeface="Arial" panose="02020603050405020304" pitchFamily="18" charset="0"/>
                <a:cs typeface="Times New Roman" panose="02020603050405020304" pitchFamily="18" charset="0"/>
              </a:rPr>
              <a:t>.</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20603050405020304" pitchFamily="18" charset="0"/>
                <a:cs typeface="Times New Roman" panose="02020603050405020304" pitchFamily="18" charset="0"/>
              </a:rPr>
              <a:t> </a:t>
            </a:r>
          </a:p>
        </p:txBody>
      </p:sp>
      <p:sp>
        <p:nvSpPr>
          <p:cNvPr id="7" name="Footer Placeholder 6">
            <a:extLst>
              <a:ext uri="{FF2B5EF4-FFF2-40B4-BE49-F238E27FC236}">
                <a16:creationId xmlns:a16="http://schemas.microsoft.com/office/drawing/2014/main" id="{26579D94-4259-99B9-5C47-0437790DAD10}"/>
              </a:ext>
            </a:extLst>
          </p:cNvPr>
          <p:cNvSpPr>
            <a:spLocks noGrp="1"/>
          </p:cNvSpPr>
          <p:nvPr>
            <p:ph type="ftr" sz="quarter" idx="11"/>
          </p:nvPr>
        </p:nvSpPr>
        <p:spPr>
          <a:xfrm>
            <a:off x="3581401" y="6356350"/>
            <a:ext cx="6281055" cy="365125"/>
          </a:xfrm>
        </p:spPr>
        <p:txBody>
          <a:bodyPr/>
          <a:lstStyle/>
          <a:p>
            <a:r>
              <a:rPr lang="en-US" dirty="0">
                <a:latin typeface="Arial"/>
              </a:rPr>
              <a:t>INTELLIGENT TRAFFIC MANAGEMENT SYSTEM WITH CNN - LICENSE PLATE RECOGNITION</a:t>
            </a:r>
            <a:endParaRPr lang="en-IN" dirty="0"/>
          </a:p>
        </p:txBody>
      </p:sp>
      <p:sp>
        <p:nvSpPr>
          <p:cNvPr id="8" name="Slide Number Placeholder 7">
            <a:extLst>
              <a:ext uri="{FF2B5EF4-FFF2-40B4-BE49-F238E27FC236}">
                <a16:creationId xmlns:a16="http://schemas.microsoft.com/office/drawing/2014/main" id="{DAF84461-54BC-CD8F-134E-376446A016B3}"/>
              </a:ext>
            </a:extLst>
          </p:cNvPr>
          <p:cNvSpPr>
            <a:spLocks noGrp="1"/>
          </p:cNvSpPr>
          <p:nvPr>
            <p:ph type="sldNum" sz="quarter" idx="12"/>
          </p:nvPr>
        </p:nvSpPr>
        <p:spPr/>
        <p:txBody>
          <a:bodyPr/>
          <a:lstStyle/>
          <a:p>
            <a:fld id="{285A014A-D44F-47DE-A001-9CAFB0069AFF}" type="slidenum">
              <a:rPr lang="en-IN" smtClean="0"/>
              <a:t>11</a:t>
            </a:fld>
            <a:endParaRPr lang="en-IN"/>
          </a:p>
        </p:txBody>
      </p:sp>
    </p:spTree>
    <p:extLst>
      <p:ext uri="{BB962C8B-B14F-4D97-AF65-F5344CB8AC3E}">
        <p14:creationId xmlns:p14="http://schemas.microsoft.com/office/powerpoint/2010/main" val="403555460"/>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437B-9B86-3639-37DC-97C84E85E6F5}"/>
              </a:ext>
            </a:extLst>
          </p:cNvPr>
          <p:cNvSpPr>
            <a:spLocks noGrp="1"/>
          </p:cNvSpPr>
          <p:nvPr>
            <p:ph type="title"/>
          </p:nvPr>
        </p:nvSpPr>
        <p:spPr>
          <a:xfrm>
            <a:off x="838200" y="382555"/>
            <a:ext cx="10515600" cy="1306286"/>
          </a:xfrm>
        </p:spPr>
        <p:txBody>
          <a:bodyPr/>
          <a:lstStyle/>
          <a:p>
            <a:pPr algn="ctr"/>
            <a:r>
              <a:rPr lang="en-US" b="1" dirty="0">
                <a:solidFill>
                  <a:schemeClr val="accent1">
                    <a:lumMod val="75000"/>
                  </a:schemeClr>
                </a:solidFill>
                <a:latin typeface="Arial" panose="02020603050405020304" pitchFamily="18" charset="0"/>
                <a:cs typeface="Times New Roman" panose="02020603050405020304" pitchFamily="18" charset="0"/>
              </a:rPr>
              <a:t>Existing</a:t>
            </a:r>
            <a:r>
              <a:rPr lang="en-IN" sz="4400" b="1" dirty="0">
                <a:solidFill>
                  <a:schemeClr val="accent1">
                    <a:lumMod val="75000"/>
                  </a:schemeClr>
                </a:solidFill>
                <a:latin typeface="Arial" panose="02020603050405020304" pitchFamily="18" charset="0"/>
                <a:cs typeface="Times New Roman" panose="02020603050405020304" pitchFamily="18" charset="0"/>
              </a:rPr>
              <a:t> Method</a:t>
            </a:r>
            <a:endParaRPr lang="en-IN" b="1" dirty="0">
              <a:solidFill>
                <a:schemeClr val="accent1">
                  <a:lumMod val="75000"/>
                </a:schemeClr>
              </a:solidFill>
            </a:endParaRPr>
          </a:p>
        </p:txBody>
      </p:sp>
      <p:sp>
        <p:nvSpPr>
          <p:cNvPr id="3" name="Content Placeholder 2">
            <a:extLst>
              <a:ext uri="{FF2B5EF4-FFF2-40B4-BE49-F238E27FC236}">
                <a16:creationId xmlns:a16="http://schemas.microsoft.com/office/drawing/2014/main" id="{21B06743-DF80-432A-7897-18BF8C800329}"/>
              </a:ext>
            </a:extLst>
          </p:cNvPr>
          <p:cNvSpPr>
            <a:spLocks noGrp="1"/>
          </p:cNvSpPr>
          <p:nvPr>
            <p:ph idx="1"/>
          </p:nvPr>
        </p:nvSpPr>
        <p:spPr>
          <a:xfrm>
            <a:off x="838199" y="1856792"/>
            <a:ext cx="10638453" cy="4264089"/>
          </a:xfrm>
        </p:spPr>
        <p:txBody>
          <a:bodyPr>
            <a:normAutofit/>
          </a:bodyPr>
          <a:lstStyle/>
          <a:p>
            <a:pPr marL="0" indent="0">
              <a:buNone/>
            </a:pPr>
            <a:r>
              <a:rPr lang="en-US" sz="2800" b="1" dirty="0">
                <a:latin typeface="Arial" panose="02020603050405020304" pitchFamily="18" charset="0"/>
                <a:cs typeface="Times New Roman" panose="02020603050405020304" pitchFamily="18" charset="0"/>
              </a:rPr>
              <a:t>YOLOv10:-</a:t>
            </a:r>
          </a:p>
          <a:p>
            <a:pPr marL="0" indent="0" algn="just">
              <a:lnSpc>
                <a:spcPct val="200000"/>
              </a:lnSpc>
              <a:buNone/>
            </a:pPr>
            <a:r>
              <a:rPr lang="en-US" sz="1600" dirty="0">
                <a:latin typeface="Arial"/>
              </a:rPr>
              <a:t>YOLOv10 (You Only Look Once version 10) is a state-of-the-art, real-time object detection model based on Convolutional Neural Networks (CNNs). It performs both classification and localization tasks in a single pass, making it highly efficient and fast. YOLOv10 is known for its speed, allowing for real-time object detection in both images and video. The model predicts bounding boxes and class labels for multiple objects in an image simultaneously, making it suitable for dynamic applications. With improvements in accuracy and speed over previous versions, YOLOv10 continues to be widely used in applications like autonomous driving, security, and video surveillance.</a:t>
            </a:r>
            <a:endParaRPr lang="en-IN"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275B12C-27DF-184A-BA78-B10B55AFD6F9}"/>
              </a:ext>
            </a:extLst>
          </p:cNvPr>
          <p:cNvSpPr>
            <a:spLocks noGrp="1"/>
          </p:cNvSpPr>
          <p:nvPr>
            <p:ph type="ftr" sz="quarter" idx="11"/>
          </p:nvPr>
        </p:nvSpPr>
        <p:spPr>
          <a:xfrm>
            <a:off x="4038599" y="6356350"/>
            <a:ext cx="5702559" cy="365125"/>
          </a:xfrm>
        </p:spPr>
        <p:txBody>
          <a:bodyPr/>
          <a:lstStyle/>
          <a:p>
            <a:r>
              <a:rPr lang="en-US" dirty="0">
                <a:latin typeface="Arial"/>
              </a:rPr>
              <a:t>INTELLIGENT TRAFFIC MANAGEMENT SYSTEM WITH CNN - LICENSE PLATE RECOGNITION</a:t>
            </a:r>
            <a:endParaRPr lang="en-IN" dirty="0"/>
          </a:p>
        </p:txBody>
      </p:sp>
      <p:sp>
        <p:nvSpPr>
          <p:cNvPr id="5" name="Slide Number Placeholder 4">
            <a:extLst>
              <a:ext uri="{FF2B5EF4-FFF2-40B4-BE49-F238E27FC236}">
                <a16:creationId xmlns:a16="http://schemas.microsoft.com/office/drawing/2014/main" id="{09987EA4-F4F5-D70D-C544-F9FD93B72638}"/>
              </a:ext>
            </a:extLst>
          </p:cNvPr>
          <p:cNvSpPr>
            <a:spLocks noGrp="1"/>
          </p:cNvSpPr>
          <p:nvPr>
            <p:ph type="sldNum" sz="quarter" idx="12"/>
          </p:nvPr>
        </p:nvSpPr>
        <p:spPr/>
        <p:txBody>
          <a:bodyPr/>
          <a:lstStyle/>
          <a:p>
            <a:fld id="{285A014A-D44F-47DE-A001-9CAFB0069AFF}" type="slidenum">
              <a:rPr lang="en-IN" smtClean="0"/>
              <a:t>12</a:t>
            </a:fld>
            <a:endParaRPr lang="en-IN" dirty="0"/>
          </a:p>
        </p:txBody>
      </p:sp>
    </p:spTree>
    <p:extLst>
      <p:ext uri="{BB962C8B-B14F-4D97-AF65-F5344CB8AC3E}">
        <p14:creationId xmlns:p14="http://schemas.microsoft.com/office/powerpoint/2010/main" val="3438910825"/>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C55DE-8C46-8ECF-DE67-46A229151202}"/>
              </a:ext>
            </a:extLst>
          </p:cNvPr>
          <p:cNvSpPr>
            <a:spLocks noGrp="1"/>
          </p:cNvSpPr>
          <p:nvPr>
            <p:ph type="title"/>
          </p:nvPr>
        </p:nvSpPr>
        <p:spPr/>
        <p:txBody>
          <a:bodyPr/>
          <a:lstStyle/>
          <a:p>
            <a:r>
              <a:rPr>
                <a:latin typeface="Arial"/>
              </a:rPr>
              <a:t>Frontend and Gradio UI</a:t>
            </a:r>
          </a:p>
        </p:txBody>
      </p:sp>
      <p:sp>
        <p:nvSpPr>
          <p:cNvPr id="3" name="Content Placeholder 2">
            <a:extLst>
              <a:ext uri="{FF2B5EF4-FFF2-40B4-BE49-F238E27FC236}">
                <a16:creationId xmlns:a16="http://schemas.microsoft.com/office/drawing/2014/main" id="{6EC8AC65-5FE0-BA2C-A89C-82435DB82CAA}"/>
              </a:ext>
            </a:extLst>
          </p:cNvPr>
          <p:cNvSpPr>
            <a:spLocks noGrp="1"/>
          </p:cNvSpPr>
          <p:nvPr>
            <p:ph idx="1"/>
          </p:nvPr>
        </p:nvSpPr>
        <p:spPr/>
        <p:txBody>
          <a:bodyPr/>
          <a:lstStyle/>
          <a:p>
            <a:pPr>
              <a:buNone/>
            </a:pPr>
            <a:r>
              <a:rPr lang="en-US" b="1" dirty="0">
                <a:latin typeface="Arial"/>
              </a:rPr>
              <a:t>Role</a:t>
            </a:r>
            <a:r>
              <a:rPr lang="en-US" dirty="0">
                <a:latin typeface="Arial"/>
              </a:rPr>
              <a:t>: Designs and manages the </a:t>
            </a:r>
            <a:r>
              <a:rPr lang="en-US" dirty="0" err="1">
                <a:latin typeface="Arial"/>
              </a:rPr>
              <a:t>Gradio</a:t>
            </a:r>
            <a:r>
              <a:rPr lang="en-US" dirty="0">
                <a:latin typeface="Arial"/>
              </a:rPr>
              <a:t>-based interface</a:t>
            </a:r>
          </a:p>
          <a:p>
            <a:r>
              <a:rPr lang="en-US" b="1" dirty="0">
                <a:latin typeface="Arial"/>
              </a:rPr>
              <a:t>Responsibilities</a:t>
            </a:r>
            <a:r>
              <a:rPr lang="en-US" dirty="0">
                <a:latin typeface="Arial"/>
              </a:rPr>
              <a:t>:</a:t>
            </a:r>
          </a:p>
          <a:p>
            <a:endParaRPr lang="en-IN" dirty="0"/>
          </a:p>
        </p:txBody>
      </p:sp>
      <p:sp>
        <p:nvSpPr>
          <p:cNvPr id="4" name="Footer Placeholder 3">
            <a:extLst>
              <a:ext uri="{FF2B5EF4-FFF2-40B4-BE49-F238E27FC236}">
                <a16:creationId xmlns:a16="http://schemas.microsoft.com/office/drawing/2014/main" id="{D2061035-019D-055A-BCB4-F58C07C25E89}"/>
              </a:ext>
            </a:extLst>
          </p:cNvPr>
          <p:cNvSpPr>
            <a:spLocks noGrp="1"/>
          </p:cNvSpPr>
          <p:nvPr>
            <p:ph type="ftr" sz="quarter" idx="11"/>
          </p:nvPr>
        </p:nvSpPr>
        <p:spPr/>
        <p:txBody>
          <a:bodyPr/>
          <a:lstStyle/>
          <a:p>
            <a:r>
              <a:rPr>
                <a:latin typeface="Arial"/>
              </a:rPr>
              <a:t>Intelligent Traffic Management System with CNN - License Plate Recognition</a:t>
            </a:r>
          </a:p>
        </p:txBody>
      </p:sp>
      <p:sp>
        <p:nvSpPr>
          <p:cNvPr id="5" name="Slide Number Placeholder 4">
            <a:extLst>
              <a:ext uri="{FF2B5EF4-FFF2-40B4-BE49-F238E27FC236}">
                <a16:creationId xmlns:a16="http://schemas.microsoft.com/office/drawing/2014/main" id="{A36794C7-6E93-97EE-B855-AC0EF79301A5}"/>
              </a:ext>
            </a:extLst>
          </p:cNvPr>
          <p:cNvSpPr>
            <a:spLocks noGrp="1"/>
          </p:cNvSpPr>
          <p:nvPr>
            <p:ph type="sldNum" sz="quarter" idx="12"/>
          </p:nvPr>
        </p:nvSpPr>
        <p:spPr/>
        <p:txBody>
          <a:bodyPr/>
          <a:lstStyle/>
          <a:p>
            <a:fld id="{285A014A-D44F-47DE-A001-9CAFB0069AFF}" type="slidenum">
              <a:rPr lang="en-IN" smtClean="0"/>
              <a:t>13</a:t>
            </a:fld>
            <a:endParaRPr lang="en-IN"/>
          </a:p>
        </p:txBody>
      </p:sp>
      <p:sp>
        <p:nvSpPr>
          <p:cNvPr id="6" name="Rectangle 1">
            <a:extLst>
              <a:ext uri="{FF2B5EF4-FFF2-40B4-BE49-F238E27FC236}">
                <a16:creationId xmlns:a16="http://schemas.microsoft.com/office/drawing/2014/main" id="{1E4769A3-C1EF-1B9B-C397-D5FA494BB58A}"/>
              </a:ext>
            </a:extLst>
          </p:cNvPr>
          <p:cNvSpPr>
            <a:spLocks noChangeArrowheads="1"/>
          </p:cNvSpPr>
          <p:nvPr/>
        </p:nvSpPr>
        <p:spPr bwMode="auto">
          <a:xfrm>
            <a:off x="1036319" y="2905925"/>
            <a:ext cx="12101183"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Develop the user interface using </a:t>
            </a:r>
            <a:r>
              <a:rPr kumimoji="0" lang="en-US" altLang="en-US" sz="1200" b="0" i="0" u="none" strike="noStrike" cap="none" normalizeH="0" baseline="0" dirty="0" err="1">
                <a:ln>
                  <a:noFill/>
                </a:ln>
                <a:solidFill>
                  <a:schemeClr val="tx1"/>
                </a:solidFill>
                <a:effectLst/>
                <a:latin typeface="Arial" panose="020B0604020202020204" pitchFamily="34" charset="0"/>
              </a:rPr>
              <a:t>Gradio</a:t>
            </a:r>
            <a:r>
              <a:rPr kumimoji="0" lang="en-US" altLang="en-US" sz="1200" b="0" i="0" u="none" strike="noStrike" cap="none" normalizeH="0" baseline="0" dirty="0">
                <a:ln>
                  <a:noFill/>
                </a:ln>
                <a:solidFill>
                  <a:schemeClr val="tx1"/>
                </a:solidFill>
                <a:effectLst/>
                <a:latin typeface="Arial" panose="020B0604020202020204" pitchFamily="34" charset="0"/>
              </a:rPr>
              <a:t> Blocks and Components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Handle visibility toggling between Image and Video inputs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Style the app for better usability, responsiveness, and user flow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Add useful UI elements like GitHub, </a:t>
            </a:r>
            <a:r>
              <a:rPr kumimoji="0" lang="en-US" altLang="en-US" sz="1200" b="0" i="0" u="none" strike="noStrike" cap="none" normalizeH="0" baseline="0" dirty="0" err="1">
                <a:ln>
                  <a:noFill/>
                </a:ln>
                <a:solidFill>
                  <a:schemeClr val="tx1"/>
                </a:solidFill>
                <a:effectLst/>
                <a:latin typeface="Arial" panose="020B0604020202020204" pitchFamily="34" charset="0"/>
              </a:rPr>
              <a:t>Arxiv</a:t>
            </a:r>
            <a:r>
              <a:rPr kumimoji="0" lang="en-US" altLang="en-US" sz="1200" b="0" i="0" u="none" strike="noStrike" cap="none" normalizeH="0" baseline="0" dirty="0">
                <a:ln>
                  <a:noFill/>
                </a:ln>
                <a:solidFill>
                  <a:schemeClr val="tx1"/>
                </a:solidFill>
                <a:effectLst/>
                <a:latin typeface="Arial" panose="020B0604020202020204" pitchFamily="34" charset="0"/>
              </a:rPr>
              <a:t> links, project title, and credits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Implement sliders and dropdowns for model configuration (confidence, image size, model variant)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Ensure clean layout using </a:t>
            </a:r>
            <a:r>
              <a:rPr kumimoji="0" lang="en-US" altLang="en-US" sz="1200" b="0" i="0" u="none" strike="noStrike" cap="none" normalizeH="0" baseline="0" dirty="0" err="1">
                <a:ln>
                  <a:noFill/>
                </a:ln>
                <a:solidFill>
                  <a:schemeClr val="tx1"/>
                </a:solidFill>
                <a:effectLst/>
                <a:latin typeface="Arial" panose="020B0604020202020204" pitchFamily="34" charset="0"/>
              </a:rPr>
              <a:t>Gradio’s</a:t>
            </a:r>
            <a:r>
              <a:rPr kumimoji="0" lang="en-US" altLang="en-US" sz="1200" b="0" i="0" u="none" strike="noStrike" cap="none" normalizeH="0" baseline="0" dirty="0">
                <a:ln>
                  <a:noFill/>
                </a:ln>
                <a:solidFill>
                  <a:schemeClr val="tx1"/>
                </a:solidFill>
                <a:effectLst/>
                <a:latin typeface="Arial" panose="020B0604020202020204" pitchFamily="34" charset="0"/>
              </a:rPr>
              <a:t> Column and Row blocks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Integrate example inputs for easy demo/testing</a:t>
            </a:r>
          </a:p>
          <a:p>
            <a:pPr marL="0" marR="0" lvl="0" indent="0" algn="l" defTabSz="914400" rtl="0" eaLnBrk="0" fontAlgn="base" latinLnBrk="0" hangingPunct="0">
              <a:lnSpc>
                <a:spcPct val="100000"/>
              </a:lnSpc>
              <a:spcBef>
                <a:spcPct val="0"/>
              </a:spcBef>
              <a:spcAft>
                <a:spcPct val="0"/>
              </a:spcAft>
              <a:buClrTx/>
              <a:buSzTx/>
              <a:tabLst/>
            </a:pPr>
            <a:endParaRPr lang="en-US" altLang="en-US"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200" dirty="0">
                <a:latin typeface="Arial"/>
              </a:rPr>
              <a:t>Collaborate with the backend lead to connect UI inputs with inference logic</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4622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2DAE-ED66-96C9-0A89-D7ED05C696E0}"/>
              </a:ext>
            </a:extLst>
          </p:cNvPr>
          <p:cNvSpPr>
            <a:spLocks noGrp="1"/>
          </p:cNvSpPr>
          <p:nvPr>
            <p:ph type="title"/>
          </p:nvPr>
        </p:nvSpPr>
        <p:spPr>
          <a:xfrm>
            <a:off x="838200" y="279919"/>
            <a:ext cx="10515600" cy="1054360"/>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Evaluation metrics</a:t>
            </a:r>
          </a:p>
        </p:txBody>
      </p:sp>
      <p:sp>
        <p:nvSpPr>
          <p:cNvPr id="3" name="Content Placeholder 2">
            <a:extLst>
              <a:ext uri="{FF2B5EF4-FFF2-40B4-BE49-F238E27FC236}">
                <a16:creationId xmlns:a16="http://schemas.microsoft.com/office/drawing/2014/main" id="{883BD877-981D-755F-C01E-9AB5334BD5C6}"/>
              </a:ext>
            </a:extLst>
          </p:cNvPr>
          <p:cNvSpPr>
            <a:spLocks noGrp="1"/>
          </p:cNvSpPr>
          <p:nvPr>
            <p:ph idx="1"/>
          </p:nvPr>
        </p:nvSpPr>
        <p:spPr>
          <a:xfrm>
            <a:off x="838200" y="1240972"/>
            <a:ext cx="10078616" cy="4432040"/>
          </a:xfrm>
        </p:spPr>
        <p:txBody>
          <a:bodyPr>
            <a:normAutofit fontScale="25000" lnSpcReduction="20000"/>
          </a:bodyPr>
          <a:lstStyle/>
          <a:p>
            <a:pPr marL="457200" lvl="1" indent="0">
              <a:lnSpc>
                <a:spcPct val="170000"/>
              </a:lnSpc>
              <a:buNone/>
            </a:pPr>
            <a:endParaRPr lang="en-US" sz="7200" b="1" dirty="0">
              <a:latin typeface="Times New Roman" panose="02020603050405020304" pitchFamily="18" charset="0"/>
              <a:cs typeface="Times New Roman" panose="02020603050405020304" pitchFamily="18" charset="0"/>
            </a:endParaRPr>
          </a:p>
          <a:p>
            <a:pPr marL="457200" lvl="1" indent="0">
              <a:lnSpc>
                <a:spcPct val="170000"/>
              </a:lnSpc>
              <a:buNone/>
            </a:pPr>
            <a:r>
              <a:rPr lang="en-US" sz="7200" b="1" dirty="0">
                <a:solidFill>
                  <a:schemeClr val="tx1"/>
                </a:solidFill>
                <a:latin typeface="Arial" panose="02020603050405020304" pitchFamily="18" charset="0"/>
                <a:cs typeface="Times New Roman" panose="02020603050405020304" pitchFamily="18" charset="0"/>
              </a:rPr>
              <a:t>Accuracy:</a:t>
            </a:r>
            <a:endParaRPr lang="en-US" sz="7200" dirty="0">
              <a:solidFill>
                <a:schemeClr val="tx1"/>
              </a:solidFill>
              <a:latin typeface="Times New Roman" panose="02020603050405020304" pitchFamily="18" charset="0"/>
              <a:cs typeface="Times New Roman" panose="02020603050405020304" pitchFamily="18" charset="0"/>
            </a:endParaRPr>
          </a:p>
          <a:p>
            <a:pPr lvl="1">
              <a:lnSpc>
                <a:spcPct val="170000"/>
              </a:lnSpc>
            </a:pPr>
            <a:r>
              <a:rPr lang="en-US" sz="7200" dirty="0">
                <a:solidFill>
                  <a:schemeClr val="tx1"/>
                </a:solidFill>
                <a:latin typeface="Arial" panose="02020603050405020304" pitchFamily="18" charset="0"/>
                <a:cs typeface="Times New Roman" panose="02020603050405020304" pitchFamily="18" charset="0"/>
              </a:rPr>
              <a:t>This is the most common metric, representing the percentage of license plates correctly recognized by the system. It's calculated as the number of correctly recognized plates divided by the total number of plates.</a:t>
            </a:r>
          </a:p>
          <a:p>
            <a:pPr marL="457200" lvl="1" indent="0">
              <a:lnSpc>
                <a:spcPct val="170000"/>
              </a:lnSpc>
              <a:buNone/>
            </a:pPr>
            <a:r>
              <a:rPr lang="en-US" sz="7200" b="1" dirty="0">
                <a:solidFill>
                  <a:schemeClr val="tx1"/>
                </a:solidFill>
                <a:latin typeface="Arial" panose="02020603050405020304" pitchFamily="18" charset="0"/>
                <a:cs typeface="Times New Roman" panose="02020603050405020304" pitchFamily="18" charset="0"/>
              </a:rPr>
              <a:t>Precision:</a:t>
            </a:r>
            <a:endParaRPr lang="en-US" sz="7200" dirty="0">
              <a:solidFill>
                <a:schemeClr val="tx1"/>
              </a:solidFill>
              <a:latin typeface="Times New Roman" panose="02020603050405020304" pitchFamily="18" charset="0"/>
              <a:cs typeface="Times New Roman" panose="02020603050405020304" pitchFamily="18" charset="0"/>
            </a:endParaRPr>
          </a:p>
          <a:p>
            <a:pPr lvl="1">
              <a:lnSpc>
                <a:spcPct val="170000"/>
              </a:lnSpc>
            </a:pPr>
            <a:r>
              <a:rPr lang="en-US" sz="7200" dirty="0">
                <a:solidFill>
                  <a:schemeClr val="tx1"/>
                </a:solidFill>
                <a:latin typeface="Arial" panose="02020603050405020304" pitchFamily="18" charset="0"/>
                <a:cs typeface="Times New Roman" panose="02020603050405020304" pitchFamily="18" charset="0"/>
              </a:rPr>
              <a:t>Precision measures the proportion of plates identified as specific characters that actually belong to those characters. It helps identify if the system is making many false positives.</a:t>
            </a:r>
          </a:p>
          <a:p>
            <a:pPr marL="457200" lvl="1" indent="0">
              <a:lnSpc>
                <a:spcPct val="170000"/>
              </a:lnSpc>
              <a:buNone/>
            </a:pPr>
            <a:r>
              <a:rPr lang="en-US" sz="7200" b="1" dirty="0">
                <a:solidFill>
                  <a:schemeClr val="tx1"/>
                </a:solidFill>
                <a:latin typeface="Arial" panose="02020603050405020304" pitchFamily="18" charset="0"/>
                <a:cs typeface="Times New Roman" panose="02020603050405020304" pitchFamily="18" charset="0"/>
              </a:rPr>
              <a:t>Character Error Rate (CER):</a:t>
            </a:r>
            <a:endParaRPr lang="en-US" sz="7200" dirty="0">
              <a:solidFill>
                <a:schemeClr val="tx1"/>
              </a:solidFill>
              <a:latin typeface="Times New Roman" panose="02020603050405020304" pitchFamily="18" charset="0"/>
              <a:cs typeface="Times New Roman" panose="02020603050405020304" pitchFamily="18" charset="0"/>
            </a:endParaRPr>
          </a:p>
          <a:p>
            <a:pPr lvl="1">
              <a:lnSpc>
                <a:spcPct val="170000"/>
              </a:lnSpc>
            </a:pPr>
            <a:r>
              <a:rPr lang="en-US" sz="7200" dirty="0">
                <a:solidFill>
                  <a:schemeClr val="tx1"/>
                </a:solidFill>
                <a:latin typeface="Arial" panose="02020603050405020304" pitchFamily="18" charset="0"/>
                <a:cs typeface="Times New Roman" panose="02020603050405020304" pitchFamily="18" charset="0"/>
              </a:rPr>
              <a:t>This metric calculates the percentage of individual characters that are incorrectly recognized by the system. A lower CER indicates better character recognition accuracy.</a:t>
            </a:r>
          </a:p>
          <a:p>
            <a:endParaRPr lang="en-IN"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82FE601-F5EC-4962-888D-96BD64416D9E}"/>
              </a:ext>
            </a:extLst>
          </p:cNvPr>
          <p:cNvSpPr>
            <a:spLocks noGrp="1"/>
          </p:cNvSpPr>
          <p:nvPr>
            <p:ph type="ftr" sz="quarter" idx="11"/>
          </p:nvPr>
        </p:nvSpPr>
        <p:spPr>
          <a:xfrm>
            <a:off x="4038599" y="6356350"/>
            <a:ext cx="6346371" cy="365125"/>
          </a:xfrm>
        </p:spPr>
        <p:txBody>
          <a:bodyPr/>
          <a:lstStyle/>
          <a:p>
            <a:r>
              <a:rPr lang="en-US" dirty="0">
                <a:latin typeface="Arial"/>
              </a:rPr>
              <a:t>INTELLIGENT TRAFFIC MANAGEMENT SYSTEM WITH CNN - LICENSE PLATE RECOGNITION</a:t>
            </a:r>
            <a:endParaRPr lang="en-IN" dirty="0"/>
          </a:p>
        </p:txBody>
      </p:sp>
      <p:sp>
        <p:nvSpPr>
          <p:cNvPr id="5" name="Slide Number Placeholder 4">
            <a:extLst>
              <a:ext uri="{FF2B5EF4-FFF2-40B4-BE49-F238E27FC236}">
                <a16:creationId xmlns:a16="http://schemas.microsoft.com/office/drawing/2014/main" id="{025253C5-619D-FFE1-FE30-4588CBB188A6}"/>
              </a:ext>
            </a:extLst>
          </p:cNvPr>
          <p:cNvSpPr>
            <a:spLocks noGrp="1"/>
          </p:cNvSpPr>
          <p:nvPr>
            <p:ph type="sldNum" sz="quarter" idx="12"/>
          </p:nvPr>
        </p:nvSpPr>
        <p:spPr/>
        <p:txBody>
          <a:bodyPr/>
          <a:lstStyle/>
          <a:p>
            <a:fld id="{285A014A-D44F-47DE-A001-9CAFB0069AFF}" type="slidenum">
              <a:rPr lang="en-IN" smtClean="0"/>
              <a:t>14</a:t>
            </a:fld>
            <a:endParaRPr lang="en-IN"/>
          </a:p>
        </p:txBody>
      </p:sp>
    </p:spTree>
    <p:extLst>
      <p:ext uri="{BB962C8B-B14F-4D97-AF65-F5344CB8AC3E}">
        <p14:creationId xmlns:p14="http://schemas.microsoft.com/office/powerpoint/2010/main" val="827360708"/>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544ED-544C-DF36-0D9C-4627C244E1BE}"/>
              </a:ext>
            </a:extLst>
          </p:cNvPr>
          <p:cNvSpPr>
            <a:spLocks noGrp="1"/>
          </p:cNvSpPr>
          <p:nvPr>
            <p:ph type="title"/>
          </p:nvPr>
        </p:nvSpPr>
        <p:spPr>
          <a:xfrm>
            <a:off x="838200" y="419879"/>
            <a:ext cx="10515600" cy="793102"/>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D673BDD-0BA0-02E6-7CAB-414B677AF80C}"/>
              </a:ext>
            </a:extLst>
          </p:cNvPr>
          <p:cNvSpPr>
            <a:spLocks noGrp="1"/>
          </p:cNvSpPr>
          <p:nvPr>
            <p:ph idx="1"/>
          </p:nvPr>
        </p:nvSpPr>
        <p:spPr>
          <a:xfrm>
            <a:off x="838200" y="1324947"/>
            <a:ext cx="10515600" cy="4497355"/>
          </a:xfrm>
        </p:spPr>
        <p:txBody>
          <a:bodyPr>
            <a:normAutofit fontScale="25000" lnSpcReduction="20000"/>
          </a:bodyPr>
          <a:lstStyle/>
          <a:p>
            <a:pPr>
              <a:lnSpc>
                <a:spcPct val="150000"/>
              </a:lnSpc>
            </a:pPr>
            <a:r>
              <a:rPr lang="en-US" sz="1800" dirty="0">
                <a:latin typeface="Arial" panose="02020603050405020304" pitchFamily="18" charset="0"/>
                <a:cs typeface="Times New Roman" panose="02020603050405020304" pitchFamily="18" charset="0"/>
              </a:rPr>
              <a:t>	</a:t>
            </a:r>
          </a:p>
          <a:p>
            <a:pPr lvl="1">
              <a:lnSpc>
                <a:spcPct val="150000"/>
              </a:lnSpc>
            </a:pPr>
            <a:endParaRPr lang="en-US" sz="6200" dirty="0">
              <a:latin typeface="Times New Roman" panose="02020603050405020304" pitchFamily="18" charset="0"/>
              <a:cs typeface="Times New Roman" panose="02020603050405020304" pitchFamily="18" charset="0"/>
            </a:endParaRPr>
          </a:p>
          <a:p>
            <a:pPr marL="201168" lvl="1" indent="0">
              <a:lnSpc>
                <a:spcPct val="150000"/>
              </a:lnSpc>
              <a:buNone/>
            </a:pPr>
            <a:r>
              <a:rPr lang="en-US" sz="6200" dirty="0">
                <a:latin typeface="Arial" panose="02020603050405020304" pitchFamily="18" charset="0"/>
                <a:cs typeface="Times New Roman" panose="02020603050405020304" pitchFamily="18" charset="0"/>
              </a:rPr>
              <a:t>	The integration of Convolutional Neural Networks (CNNs) for License Plate Recognition (LPR) presents a transformative approach to Intelligent Traffic Management Systems (ITMS). This technology offers significant potential for:</a:t>
            </a:r>
          </a:p>
          <a:p>
            <a:pPr>
              <a:lnSpc>
                <a:spcPct val="150000"/>
              </a:lnSpc>
              <a:buFont typeface="Arial" panose="020B0604020202020204" pitchFamily="34" charset="0"/>
              <a:buChar char="•"/>
            </a:pPr>
            <a:r>
              <a:rPr lang="en-US" sz="6400" b="1" dirty="0">
                <a:latin typeface="Arial" panose="02020603050405020304" pitchFamily="18" charset="0"/>
                <a:cs typeface="Times New Roman" panose="02020603050405020304" pitchFamily="18" charset="0"/>
              </a:rPr>
              <a:t>Improved Traffic Flow:</a:t>
            </a:r>
            <a:r>
              <a:rPr lang="en-US" sz="6400" dirty="0">
                <a:latin typeface="Arial" panose="02020603050405020304" pitchFamily="18" charset="0"/>
                <a:cs typeface="Times New Roman" panose="02020603050405020304" pitchFamily="18" charset="0"/>
              </a:rPr>
              <a:t> Real-time data from LPR empowers dynamic traffic signal adjustments, leading to smoother traffic flow and reduced congestion.</a:t>
            </a:r>
          </a:p>
          <a:p>
            <a:pPr>
              <a:lnSpc>
                <a:spcPct val="150000"/>
              </a:lnSpc>
              <a:buFont typeface="Arial" panose="020B0604020202020204" pitchFamily="34" charset="0"/>
              <a:buChar char="•"/>
            </a:pPr>
            <a:r>
              <a:rPr lang="en-US" sz="6400" b="1" dirty="0">
                <a:latin typeface="Arial" panose="02020603050405020304" pitchFamily="18" charset="0"/>
                <a:cs typeface="Times New Roman" panose="02020603050405020304" pitchFamily="18" charset="0"/>
              </a:rPr>
              <a:t>Enhanced Safety and </a:t>
            </a:r>
            <a:r>
              <a:rPr lang="en-US" sz="8000" b="1" dirty="0">
                <a:latin typeface="Arial" panose="02020603050405020304" pitchFamily="18" charset="0"/>
                <a:cs typeface="Times New Roman" panose="02020603050405020304" pitchFamily="18" charset="0"/>
              </a:rPr>
              <a:t>Security</a:t>
            </a:r>
            <a:r>
              <a:rPr lang="en-US" sz="6400" b="1" dirty="0">
                <a:latin typeface="Arial" panose="02020603050405020304" pitchFamily="18" charset="0"/>
                <a:cs typeface="Times New Roman" panose="02020603050405020304" pitchFamily="18" charset="0"/>
              </a:rPr>
              <a:t>:</a:t>
            </a:r>
            <a:r>
              <a:rPr lang="en-US" sz="6400" dirty="0">
                <a:latin typeface="Arial" panose="02020603050405020304" pitchFamily="18" charset="0"/>
                <a:cs typeface="Times New Roman" panose="02020603050405020304" pitchFamily="18" charset="0"/>
              </a:rPr>
              <a:t> Automatic detection of stolen vehicles and traffic violations promotes public safety. Accident investigation is also aided by tracking vehicle movements.</a:t>
            </a:r>
          </a:p>
          <a:p>
            <a:pPr>
              <a:lnSpc>
                <a:spcPct val="150000"/>
              </a:lnSpc>
              <a:buFont typeface="Arial" panose="020B0604020202020204" pitchFamily="34" charset="0"/>
              <a:buChar char="•"/>
            </a:pPr>
            <a:r>
              <a:rPr lang="en-US" sz="6400" b="1" dirty="0">
                <a:latin typeface="Arial" panose="02020603050405020304" pitchFamily="18" charset="0"/>
                <a:cs typeface="Times New Roman" panose="02020603050405020304" pitchFamily="18" charset="0"/>
              </a:rPr>
              <a:t>Increased Efficiency:</a:t>
            </a:r>
            <a:r>
              <a:rPr lang="en-US" sz="6400" dirty="0">
                <a:latin typeface="Arial" panose="02020603050405020304" pitchFamily="18" charset="0"/>
                <a:cs typeface="Times New Roman" panose="02020603050405020304" pitchFamily="18" charset="0"/>
              </a:rPr>
              <a:t> LPR facilitates automatic toll collection and streamlines parking management, benefiting both drivers and authorities.</a:t>
            </a:r>
          </a:p>
          <a:p>
            <a:pPr>
              <a:lnSpc>
                <a:spcPct val="150000"/>
              </a:lnSpc>
              <a:buFont typeface="Arial" panose="020B0604020202020204" pitchFamily="34" charset="0"/>
              <a:buChar char="•"/>
            </a:pPr>
            <a:r>
              <a:rPr lang="en-US" sz="6400" b="1" dirty="0">
                <a:latin typeface="Arial" panose="02020603050405020304" pitchFamily="18" charset="0"/>
                <a:cs typeface="Times New Roman" panose="02020603050405020304" pitchFamily="18" charset="0"/>
              </a:rPr>
              <a:t>Data-driven Insights:</a:t>
            </a:r>
            <a:r>
              <a:rPr lang="en-US" sz="6400" dirty="0">
                <a:latin typeface="Arial" panose="02020603050405020304" pitchFamily="18" charset="0"/>
                <a:cs typeface="Times New Roman" panose="02020603050405020304" pitchFamily="18" charset="0"/>
              </a:rPr>
              <a:t> LPR data analysis provides valuable insights into traffic patterns, enabling informed planning and infrastructure development.</a:t>
            </a: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19958C90-5E86-07A2-E0C1-B7D9288C4083}"/>
              </a:ext>
            </a:extLst>
          </p:cNvPr>
          <p:cNvSpPr>
            <a:spLocks noGrp="1"/>
          </p:cNvSpPr>
          <p:nvPr>
            <p:ph type="ftr" sz="quarter" idx="11"/>
          </p:nvPr>
        </p:nvSpPr>
        <p:spPr>
          <a:xfrm>
            <a:off x="3581402" y="6173787"/>
            <a:ext cx="6644950" cy="365125"/>
          </a:xfrm>
        </p:spPr>
        <p:txBody>
          <a:bodyPr/>
          <a:lstStyle/>
          <a:p>
            <a:r>
              <a:rPr lang="en-IN" dirty="0">
                <a:latin typeface="Arial"/>
              </a:rPr>
              <a:t>INTELLIGENT TRAFFIC MANAGEMENT SYSTEM WITH CNN - LICENSE PLATE RECOGNITION</a:t>
            </a:r>
          </a:p>
        </p:txBody>
      </p:sp>
      <p:sp>
        <p:nvSpPr>
          <p:cNvPr id="8" name="Slide Number Placeholder 7">
            <a:extLst>
              <a:ext uri="{FF2B5EF4-FFF2-40B4-BE49-F238E27FC236}">
                <a16:creationId xmlns:a16="http://schemas.microsoft.com/office/drawing/2014/main" id="{087EE3AF-2C63-276E-3D58-F36BF8BF34DA}"/>
              </a:ext>
            </a:extLst>
          </p:cNvPr>
          <p:cNvSpPr>
            <a:spLocks noGrp="1"/>
          </p:cNvSpPr>
          <p:nvPr>
            <p:ph type="sldNum" sz="quarter" idx="12"/>
          </p:nvPr>
        </p:nvSpPr>
        <p:spPr/>
        <p:txBody>
          <a:bodyPr/>
          <a:lstStyle/>
          <a:p>
            <a:fld id="{285A014A-D44F-47DE-A001-9CAFB0069AFF}" type="slidenum">
              <a:rPr lang="en-IN" smtClean="0"/>
              <a:t>15</a:t>
            </a:fld>
            <a:endParaRPr lang="en-IN"/>
          </a:p>
        </p:txBody>
      </p:sp>
    </p:spTree>
    <p:extLst>
      <p:ext uri="{BB962C8B-B14F-4D97-AF65-F5344CB8AC3E}">
        <p14:creationId xmlns:p14="http://schemas.microsoft.com/office/powerpoint/2010/main" val="991234882"/>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544ED-544C-DF36-0D9C-4627C244E1BE}"/>
              </a:ext>
            </a:extLst>
          </p:cNvPr>
          <p:cNvSpPr>
            <a:spLocks noGrp="1"/>
          </p:cNvSpPr>
          <p:nvPr>
            <p:ph type="title"/>
          </p:nvPr>
        </p:nvSpPr>
        <p:spPr>
          <a:xfrm>
            <a:off x="838200" y="270589"/>
            <a:ext cx="10515600" cy="765110"/>
          </a:xfrm>
        </p:spPr>
        <p:txBody>
          <a:bodyPr>
            <a:normAutofit/>
          </a:bodyPr>
          <a:lstStyle/>
          <a:p>
            <a:pPr algn="ctr"/>
            <a:r>
              <a:rPr lang="en-IN" sz="3600" b="1" dirty="0">
                <a:solidFill>
                  <a:schemeClr val="accent1">
                    <a:lumMod val="75000"/>
                  </a:schemeClr>
                </a:solidFill>
                <a:latin typeface="Arial"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AD673BDD-0BA0-02E6-7CAB-414B677AF80C}"/>
              </a:ext>
            </a:extLst>
          </p:cNvPr>
          <p:cNvSpPr>
            <a:spLocks noGrp="1"/>
          </p:cNvSpPr>
          <p:nvPr>
            <p:ph idx="1"/>
          </p:nvPr>
        </p:nvSpPr>
        <p:spPr>
          <a:xfrm>
            <a:off x="838200" y="1744824"/>
            <a:ext cx="10722429" cy="4180115"/>
          </a:xfrm>
        </p:spPr>
        <p:txBody>
          <a:bodyPr>
            <a:noAutofit/>
          </a:bodyPr>
          <a:lstStyle/>
          <a:p>
            <a:pPr marL="0" indent="0" algn="just">
              <a:lnSpc>
                <a:spcPct val="150000"/>
              </a:lnSpc>
              <a:buNone/>
            </a:pPr>
            <a:r>
              <a:rPr lang="en-US" sz="1800" dirty="0">
                <a:latin typeface="Arial" panose="02020603050405020304" pitchFamily="18" charset="0"/>
                <a:cs typeface="Times New Roman" panose="02020603050405020304" pitchFamily="18" charset="0"/>
              </a:rPr>
              <a:t>	</a:t>
            </a:r>
            <a:r>
              <a:rPr lang="en-US" sz="1800" dirty="0">
                <a:solidFill>
                  <a:schemeClr val="tx1"/>
                </a:solidFill>
                <a:latin typeface="Arial" panose="02020603050405020304" pitchFamily="18" charset="0"/>
                <a:cs typeface="Times New Roman" panose="02020603050405020304" pitchFamily="18" charset="0"/>
              </a:rPr>
              <a:t>The future of Intelligent Traffic Management Systems (ITMS) with CNN-based License Plate Recognition (LPR) is brimming with exciting possibilities. We can expect real-time tracking of specific vehicles, allowing for improved response times in emergencies and better enforcement of traffic violations. By fusing LPR data with other sensors, the system will gain a more comprehensive view of the traffic environment, enabling robust object detection in any weather condition. Advanced machine learning models will leverage LPR data to predict traffic patterns and congestion, facilitating proactive management strategies. Furthermore, LPR data will be instrumental in the seamless integration of autonomous vehicles with the ITMS infrastructure. Beyond these technological advancements, standardization and clear privacy regulations will be crucial for ensuring interoperability between systems and responsible data usage. In essence, CNN-based LPR is poised to propel traffic management into a new era, characterized by increased efficiency, safety, and a data-driven approach to creating a smarter and smoother transportation experience for all.</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03B7FD14-3D42-B898-6EF9-1F5AA2747608}"/>
              </a:ext>
            </a:extLst>
          </p:cNvPr>
          <p:cNvSpPr>
            <a:spLocks noGrp="1"/>
          </p:cNvSpPr>
          <p:nvPr>
            <p:ph type="ftr" sz="quarter" idx="11"/>
          </p:nvPr>
        </p:nvSpPr>
        <p:spPr>
          <a:xfrm>
            <a:off x="4038600" y="6356350"/>
            <a:ext cx="6019800" cy="365125"/>
          </a:xfrm>
        </p:spPr>
        <p:txBody>
          <a:bodyPr/>
          <a:lstStyle/>
          <a:p>
            <a:r>
              <a:rPr lang="en-US" dirty="0">
                <a:latin typeface="Arial"/>
              </a:rPr>
              <a:t>INTELLIGENT TRAFFIC MANAGEMENT SYSTEM WITH CNN - LICENSE PLATE RECOGNITION</a:t>
            </a:r>
            <a:endParaRPr lang="en-IN" dirty="0"/>
          </a:p>
        </p:txBody>
      </p:sp>
      <p:sp>
        <p:nvSpPr>
          <p:cNvPr id="8" name="Slide Number Placeholder 7">
            <a:extLst>
              <a:ext uri="{FF2B5EF4-FFF2-40B4-BE49-F238E27FC236}">
                <a16:creationId xmlns:a16="http://schemas.microsoft.com/office/drawing/2014/main" id="{AE9ED34B-C236-E50A-EFB3-FA3F2A1269AD}"/>
              </a:ext>
            </a:extLst>
          </p:cNvPr>
          <p:cNvSpPr>
            <a:spLocks noGrp="1"/>
          </p:cNvSpPr>
          <p:nvPr>
            <p:ph type="sldNum" sz="quarter" idx="12"/>
          </p:nvPr>
        </p:nvSpPr>
        <p:spPr/>
        <p:txBody>
          <a:bodyPr/>
          <a:lstStyle/>
          <a:p>
            <a:fld id="{285A014A-D44F-47DE-A001-9CAFB0069AFF}" type="slidenum">
              <a:rPr lang="en-IN" smtClean="0"/>
              <a:t>16</a:t>
            </a:fld>
            <a:endParaRPr lang="en-IN"/>
          </a:p>
        </p:txBody>
      </p:sp>
    </p:spTree>
    <p:extLst>
      <p:ext uri="{BB962C8B-B14F-4D97-AF65-F5344CB8AC3E}">
        <p14:creationId xmlns:p14="http://schemas.microsoft.com/office/powerpoint/2010/main" val="1771972040"/>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F6900-14FA-DF94-65B4-3F71CA940846}"/>
              </a:ext>
            </a:extLst>
          </p:cNvPr>
          <p:cNvSpPr>
            <a:spLocks noGrp="1"/>
          </p:cNvSpPr>
          <p:nvPr>
            <p:ph type="title"/>
          </p:nvPr>
        </p:nvSpPr>
        <p:spPr>
          <a:xfrm>
            <a:off x="4563447" y="2557248"/>
            <a:ext cx="3065106" cy="975880"/>
          </a:xfrm>
        </p:spPr>
        <p:txBody>
          <a:bodyPr/>
          <a:lstStyle/>
          <a:p>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1B3A853-6407-770A-8649-368D74DA1CEB}"/>
              </a:ext>
            </a:extLst>
          </p:cNvPr>
          <p:cNvSpPr>
            <a:spLocks noGrp="1"/>
          </p:cNvSpPr>
          <p:nvPr>
            <p:ph type="ftr" sz="quarter" idx="11"/>
          </p:nvPr>
        </p:nvSpPr>
        <p:spPr/>
        <p:txBody>
          <a:bodyPr/>
          <a:lstStyle/>
          <a:p>
            <a:r>
              <a:rPr>
                <a:latin typeface="Arial"/>
              </a:rPr>
              <a:t>Intelligent Traffic Management System with CNN - License Plate Recognition</a:t>
            </a:r>
          </a:p>
        </p:txBody>
      </p:sp>
      <p:sp>
        <p:nvSpPr>
          <p:cNvPr id="5" name="Slide Number Placeholder 4">
            <a:extLst>
              <a:ext uri="{FF2B5EF4-FFF2-40B4-BE49-F238E27FC236}">
                <a16:creationId xmlns:a16="http://schemas.microsoft.com/office/drawing/2014/main" id="{157DA815-5A19-D218-830B-EC39549AACDE}"/>
              </a:ext>
            </a:extLst>
          </p:cNvPr>
          <p:cNvSpPr>
            <a:spLocks noGrp="1"/>
          </p:cNvSpPr>
          <p:nvPr>
            <p:ph type="sldNum" sz="quarter" idx="12"/>
          </p:nvPr>
        </p:nvSpPr>
        <p:spPr/>
        <p:txBody>
          <a:bodyPr/>
          <a:lstStyle/>
          <a:p>
            <a:fld id="{285A014A-D44F-47DE-A001-9CAFB0069AFF}" type="slidenum">
              <a:rPr lang="en-IN" smtClean="0"/>
              <a:t>17</a:t>
            </a:fld>
            <a:endParaRPr lang="en-IN"/>
          </a:p>
        </p:txBody>
      </p:sp>
      <p:pic>
        <p:nvPicPr>
          <p:cNvPr id="6" name="Picture 5">
            <a:extLst>
              <a:ext uri="{FF2B5EF4-FFF2-40B4-BE49-F238E27FC236}">
                <a16:creationId xmlns:a16="http://schemas.microsoft.com/office/drawing/2014/main" id="{D34B4E49-84E1-C98A-5890-788F9CEA8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3052489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183194B-E8FB-4900-9467-592B95A21069}">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9163</TotalTime>
  <Words>1981</Words>
  <Application>Microsoft Office PowerPoint</Application>
  <PresentationFormat>Widescreen</PresentationFormat>
  <Paragraphs>186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Söhne</vt:lpstr>
      <vt:lpstr>Times New Roman</vt:lpstr>
      <vt:lpstr>Wingdings</vt:lpstr>
      <vt:lpstr>Retrospect</vt:lpstr>
      <vt:lpstr>PowerPoint Presentation</vt:lpstr>
      <vt:lpstr>List of contents</vt:lpstr>
      <vt:lpstr>Abstract</vt:lpstr>
      <vt:lpstr>Introduction</vt:lpstr>
      <vt:lpstr>Why This Project?</vt:lpstr>
      <vt:lpstr>Technologies Used</vt:lpstr>
      <vt:lpstr>Literature survey</vt:lpstr>
      <vt:lpstr>Implementation</vt:lpstr>
      <vt:lpstr>Model Integration and Backend</vt:lpstr>
      <vt:lpstr>Dataset</vt:lpstr>
      <vt:lpstr>Implementation</vt:lpstr>
      <vt:lpstr>Existing Method</vt:lpstr>
      <vt:lpstr>Frontend and Gradio UI</vt:lpstr>
      <vt:lpstr>Evaluation metrics</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- 07 Image Caption Generator using CNN and LSTM  Leveraging the Flickr8k Dataset</dc:title>
  <dc:creator>Surya Venkata Satish Kumar Pilli</dc:creator>
  <cp:lastModifiedBy>UDAYA SATYAVENI</cp:lastModifiedBy>
  <cp:revision>11</cp:revision>
  <dcterms:created xsi:type="dcterms:W3CDTF">2024-03-03T02:30:16Z</dcterms:created>
  <dcterms:modified xsi:type="dcterms:W3CDTF">2026-08-13T02:02:04Z</dcterms:modified>
</cp:coreProperties>
</file>